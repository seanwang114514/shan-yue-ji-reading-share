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b">
            <a:normAutofit/>
          </a:bodyPr>
          <a:lstStyle/>
          <a:p>
            <a:pPr marL="0" algn="ctr">
              <a:lnSpc>
                <a:spcPct val="90000"/>
              </a:lnSpc>
            </a:pPr>
            <a:endParaRPr lang="en-US"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indent="-361950" algn="ctr">
              <a:lnSpc>
                <a:spcPct val="90000"/>
              </a:lnSpc>
              <a:spcBef>
                <a:spcPts val="800"/>
              </a:spcBef>
            </a:pPr>
            <a:endParaRPr lang="en-US"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16" name="Shape 34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rmAutofit/>
          </a:bodyPr>
          <a:lstStyle/>
          <a:p>
            <a:pPr marL="0" algn="l">
              <a:lnSpc>
                <a:spcPct val="90000"/>
              </a:lnSpc>
            </a:pPr>
            <a:endParaRPr lang="en-US"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lvl="0" indent="-3175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22" name="Shape 5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_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b">
            <a:normAutofit/>
          </a:bodyPr>
          <a:lstStyle/>
          <a:p>
            <a:pPr marL="0" algn="l">
              <a:lnSpc>
                <a:spcPct val="90000"/>
              </a:lnSpc>
            </a:pPr>
            <a:endParaRPr lang="en-US"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lvl="0" indent="-2286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28" name="Shape 6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_OBJEC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rmAutofit/>
          </a:bodyPr>
          <a:lstStyle/>
          <a:p>
            <a:pPr marL="0" algn="l">
              <a:lnSpc>
                <a:spcPct val="90000"/>
              </a:lnSpc>
            </a:pPr>
            <a:endParaRPr lang="en-US"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lvl="0" indent="-3175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lvl="0" indent="-3175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35" name="Shape 14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rmAutofit/>
          </a:bodyPr>
          <a:lstStyle/>
          <a:p>
            <a:pPr marL="0" algn="l">
              <a:lnSpc>
                <a:spcPct val="90000"/>
              </a:lnSpc>
            </a:pPr>
            <a:endParaRPr lang="en-US"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b">
            <a:normAutofit/>
          </a:bodyPr>
          <a:lstStyle/>
          <a:p>
            <a:pPr marL="457200" lvl="0" indent="-2286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lvl="0" indent="-3175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b">
            <a:normAutofit/>
          </a:bodyPr>
          <a:lstStyle/>
          <a:p>
            <a:pPr marL="457200" lvl="0" indent="-2286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lvl="0" indent="-3175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44" name="Shape 42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rmAutofit/>
          </a:bodyPr>
          <a:lstStyle/>
          <a:p>
            <a:pPr marL="0" algn="l">
              <a:lnSpc>
                <a:spcPct val="90000"/>
              </a:lnSpc>
            </a:pPr>
            <a:endParaRPr lang="en-US"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49" name="Shape 2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53" name="Shape 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b">
            <a:normAutofit/>
          </a:bodyPr>
          <a:lstStyle/>
          <a:p>
            <a:pPr marL="0" algn="l">
              <a:lnSpc>
                <a:spcPct val="90000"/>
              </a:lnSpc>
            </a:pPr>
            <a:endParaRPr lang="en-US"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lvl="0" indent="-3810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lvl="0" indent="-2286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60" name="Shape 4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b">
            <a:normAutofit/>
          </a:bodyPr>
          <a:lstStyle/>
          <a:p>
            <a:pPr marL="0" algn="l">
              <a:lnSpc>
                <a:spcPct val="90000"/>
              </a:lnSpc>
            </a:pPr>
            <a:endParaRPr lang="en-US"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lvl="0" indent="-2286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67" name="Shape 29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rmAutofit/>
          </a:bodyPr>
          <a:lstStyle/>
          <a:p>
            <a:pPr marL="0" algn="l">
              <a:lnSpc>
                <a:spcPct val="90000"/>
              </a:lnSpc>
            </a:pPr>
            <a:endParaRPr lang="en-US"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lvl="0" indent="-3175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73" name="Shape 5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TICAL_TITLE_AND_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rmAutofit/>
          </a:bodyPr>
          <a:lstStyle/>
          <a:p>
            <a:pPr marL="0" algn="l">
              <a:lnSpc>
                <a:spcPct val="90000"/>
              </a:lnSpc>
            </a:pPr>
            <a:endParaRPr lang="en-US"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lvl="0" indent="-317500" algn="l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Font typeface="Arial"/>
              <a:buChar char="•"/>
            </a:pPr>
            <a:endParaRPr lang="en-US"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79" name="Shape 19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ayout 1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rmAutofit/>
          </a:bodyPr>
          <a:lstStyle/>
          <a:p>
            <a:pPr marL="0" algn="l">
              <a:lnSpc>
                <a:spcPct val="90000"/>
              </a:lnSpc>
            </a:pPr>
            <a:endParaRPr lang="en-US"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t">
            <a:normAutofit/>
          </a:bodyPr>
          <a:lstStyle/>
          <a:p>
            <a:pPr marL="457200" indent="-361950" algn="l">
              <a:lnSpc>
                <a:spcPct val="90000"/>
              </a:lnSpc>
              <a:spcBef>
                <a:spcPts val="800"/>
              </a:spcBef>
            </a:pPr>
            <a:endParaRPr lang="en-US"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l"/>
            <a:endParaRPr lang="en-US"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wrap="square" lIns="68575" tIns="34275" rIns="68575" bIns="34275" anchor="ctr">
            <a:noAutofit/>
          </a:bodyPr>
          <a:lstStyle/>
          <a:p>
            <a:pPr marL="0" algn="ctr"/>
            <a:endParaRPr lang="en-US"/>
          </a:p>
        </p:txBody>
      </p:sp>
      <p:sp>
        <p:nvSpPr>
          <p:cNvPr id="10" name="Shape 5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‹#›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711200"/>
            <a:ext cx="457200" cy="965200"/>
          </a:xfrm>
          <a:prstGeom prst="rect">
            <a:avLst/>
          </a:prstGeom>
          <a:solidFill>
            <a:srgbClr val="A639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 3"/>
          <p:cNvSpPr/>
          <p:nvPr/>
        </p:nvSpPr>
        <p:spPr>
          <a:xfrm>
            <a:off x="882650" y="904875"/>
            <a:ext cx="3175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13000"/>
              </a:lnSpc>
            </a:pPr>
            <a:r>
              <a:rPr lang="zh-CN" sz="1700">
                <a:solidFill>
                  <a:srgbClr val="FFFFFF"/>
                </a:solidFill>
                <a:latin typeface="KaiTi"/>
                <a:ea typeface="KaiTi"/>
              </a:rPr>
              <a:t>山</a:t>
            </a:r>
          </a:p>
        </p:txBody>
      </p:sp>
      <p:sp>
        <p:nvSpPr>
          <p:cNvPr id="5" name="rect 4"/>
          <p:cNvSpPr/>
          <p:nvPr/>
        </p:nvSpPr>
        <p:spPr>
          <a:xfrm>
            <a:off x="882650" y="1209675"/>
            <a:ext cx="3175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13000"/>
              </a:lnSpc>
            </a:pPr>
            <a:r>
              <a:rPr lang="zh-CN" sz="1700">
                <a:solidFill>
                  <a:srgbClr val="FFFFFF"/>
                </a:solidFill>
                <a:latin typeface="KaiTi"/>
                <a:ea typeface="KaiTi"/>
              </a:rPr>
              <a:t>月</a:t>
            </a:r>
          </a:p>
        </p:txBody>
      </p:sp>
      <p:sp>
        <p:nvSpPr>
          <p:cNvPr id="6" name="rect 5"/>
          <p:cNvSpPr/>
          <p:nvPr/>
        </p:nvSpPr>
        <p:spPr>
          <a:xfrm>
            <a:off x="1790700" y="431800"/>
            <a:ext cx="736600" cy="762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5000" b="1">
                <a:solidFill>
                  <a:srgbClr val="1F1F1F"/>
                </a:solidFill>
                <a:latin typeface="Noto Serif SC"/>
                <a:ea typeface="serif"/>
              </a:rPr>
              <a:t>山</a:t>
            </a:r>
          </a:p>
        </p:txBody>
      </p:sp>
      <p:sp>
        <p:nvSpPr>
          <p:cNvPr id="7" name="rect 6"/>
          <p:cNvSpPr/>
          <p:nvPr/>
        </p:nvSpPr>
        <p:spPr>
          <a:xfrm>
            <a:off x="1790700" y="1219200"/>
            <a:ext cx="736600" cy="762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5000" b="1">
                <a:solidFill>
                  <a:srgbClr val="1F1F1F"/>
                </a:solidFill>
                <a:latin typeface="Noto Serif SC"/>
                <a:ea typeface="serif"/>
              </a:rPr>
              <a:t>月</a:t>
            </a:r>
          </a:p>
        </p:txBody>
      </p:sp>
      <p:sp>
        <p:nvSpPr>
          <p:cNvPr id="8" name="rect 7"/>
          <p:cNvSpPr/>
          <p:nvPr/>
        </p:nvSpPr>
        <p:spPr>
          <a:xfrm>
            <a:off x="1790700" y="2006600"/>
            <a:ext cx="736600" cy="762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5000" b="1">
                <a:solidFill>
                  <a:srgbClr val="1F1F1F"/>
                </a:solidFill>
                <a:latin typeface="Noto Serif SC"/>
                <a:ea typeface="serif"/>
              </a:rPr>
              <a:t>照</a:t>
            </a:r>
          </a:p>
        </p:txBody>
      </p:sp>
      <p:sp>
        <p:nvSpPr>
          <p:cNvPr id="9" name="rect 8"/>
          <p:cNvSpPr/>
          <p:nvPr/>
        </p:nvSpPr>
        <p:spPr>
          <a:xfrm>
            <a:off x="1790700" y="2794000"/>
            <a:ext cx="736600" cy="762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5000" b="1">
                <a:solidFill>
                  <a:srgbClr val="1F1F1F"/>
                </a:solidFill>
                <a:latin typeface="Noto Serif SC"/>
                <a:ea typeface="serif"/>
              </a:rPr>
              <a:t>见</a:t>
            </a:r>
          </a:p>
        </p:txBody>
      </p:sp>
      <p:sp>
        <p:nvSpPr>
          <p:cNvPr id="10" name="rect 9"/>
          <p:cNvSpPr/>
          <p:nvPr/>
        </p:nvSpPr>
        <p:spPr>
          <a:xfrm>
            <a:off x="1790700" y="3581400"/>
            <a:ext cx="736600" cy="762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5000" b="1">
                <a:solidFill>
                  <a:srgbClr val="1F1F1F"/>
                </a:solidFill>
                <a:latin typeface="Noto Serif SC"/>
                <a:ea typeface="serif"/>
              </a:rPr>
              <a:t>心</a:t>
            </a:r>
          </a:p>
        </p:txBody>
      </p:sp>
      <p:sp>
        <p:nvSpPr>
          <p:cNvPr id="11" name="rect 10"/>
          <p:cNvSpPr/>
          <p:nvPr/>
        </p:nvSpPr>
        <p:spPr>
          <a:xfrm>
            <a:off x="1790700" y="4368800"/>
            <a:ext cx="736600" cy="762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5000" b="1">
                <a:solidFill>
                  <a:srgbClr val="1F1F1F"/>
                </a:solidFill>
                <a:latin typeface="Noto Serif SC"/>
                <a:ea typeface="serif"/>
              </a:rPr>
              <a:t>中</a:t>
            </a:r>
          </a:p>
        </p:txBody>
      </p:sp>
      <p:sp>
        <p:nvSpPr>
          <p:cNvPr id="12" name="rect 11"/>
          <p:cNvSpPr/>
          <p:nvPr/>
        </p:nvSpPr>
        <p:spPr>
          <a:xfrm>
            <a:off x="1790700" y="5156200"/>
            <a:ext cx="736600" cy="762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5000" b="1">
                <a:solidFill>
                  <a:srgbClr val="1F1F1F"/>
                </a:solidFill>
                <a:latin typeface="Noto Serif SC"/>
                <a:ea typeface="serif"/>
              </a:rPr>
              <a:t>虎</a:t>
            </a:r>
          </a:p>
        </p:txBody>
      </p:sp>
      <p:sp>
        <p:nvSpPr>
          <p:cNvPr id="13" name="rect 12"/>
          <p:cNvSpPr/>
          <p:nvPr/>
        </p:nvSpPr>
        <p:spPr>
          <a:xfrm>
            <a:off x="3149600" y="4305300"/>
            <a:ext cx="2806700" cy="381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</a:pPr>
            <a:r>
              <a:rPr lang="zh-CN" sz="2500">
                <a:solidFill>
                  <a:srgbClr val="555555"/>
                </a:solidFill>
                <a:latin typeface="Noto Serif SC"/>
                <a:ea typeface="serif"/>
              </a:rPr>
              <a:t>《山月记》读书分享</a:t>
            </a:r>
          </a:p>
        </p:txBody>
      </p:sp>
      <p:cxnSp>
        <p:nvCxnSpPr>
          <p:cNvPr id="14" name="line 1"/>
          <p:cNvCxnSpPr/>
          <p:nvPr/>
        </p:nvCxnSpPr>
        <p:spPr>
          <a:xfrm>
            <a:off x="3149600" y="4997450"/>
            <a:ext cx="2819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15" name="rect 13"/>
          <p:cNvSpPr/>
          <p:nvPr/>
        </p:nvSpPr>
        <p:spPr>
          <a:xfrm>
            <a:off x="3149600" y="5181600"/>
            <a:ext cx="3886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8A8A8A"/>
                </a:solidFill>
                <a:latin typeface="Noto Serif SC"/>
                <a:ea typeface="serif"/>
              </a:rPr>
              <a:t>[日] 中岛敦 著 · 1942 年 · 取材唐传奇《人虎传》</a:t>
            </a:r>
          </a:p>
        </p:txBody>
      </p:sp>
      <p:sp>
        <p:nvSpPr>
          <p:cNvPr id="16" name="rect 14"/>
          <p:cNvSpPr/>
          <p:nvPr/>
        </p:nvSpPr>
        <p:spPr>
          <a:xfrm>
            <a:off x="3149600" y="5511800"/>
            <a:ext cx="1168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8A8A8A"/>
                </a:solidFill>
                <a:latin typeface="Noto Serif SC"/>
                <a:ea typeface="serif"/>
              </a:rPr>
              <a:t>语文课堂演讲</a:t>
            </a:r>
          </a:p>
        </p:txBody>
      </p:sp>
      <p:pic>
        <p:nvPicPr>
          <p:cNvPr id="17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397" y="444500"/>
            <a:ext cx="2918206" cy="590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47700"/>
            <a:ext cx="17272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</a:pPr>
            <a:r>
              <a:rPr lang="zh-CN" sz="3200" b="1">
                <a:solidFill>
                  <a:srgbClr val="1F1F1F"/>
                </a:solidFill>
                <a:latin typeface="Noto Serif SC"/>
                <a:ea typeface="serif"/>
              </a:rPr>
              <a:t>内容框架</a:t>
            </a:r>
          </a:p>
        </p:txBody>
      </p:sp>
      <p:cxnSp>
        <p:nvCxnSpPr>
          <p:cNvPr id="5" name="line 1"/>
          <p:cNvCxnSpPr/>
          <p:nvPr/>
        </p:nvCxnSpPr>
        <p:spPr>
          <a:xfrm>
            <a:off x="812800" y="1416050"/>
            <a:ext cx="10566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6" name="rect 4"/>
          <p:cNvSpPr/>
          <p:nvPr/>
        </p:nvSpPr>
        <p:spPr>
          <a:xfrm>
            <a:off x="812800" y="1879600"/>
            <a:ext cx="3683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9000"/>
              </a:lnSpc>
            </a:pPr>
            <a:r>
              <a:rPr lang="en-US" sz="2000">
                <a:solidFill>
                  <a:srgbClr val="A6392E"/>
                </a:solidFill>
                <a:latin typeface="Georgia"/>
                <a:ea typeface="serif"/>
              </a:rPr>
              <a:t>01</a:t>
            </a:r>
          </a:p>
        </p:txBody>
      </p:sp>
      <p:sp>
        <p:nvSpPr>
          <p:cNvPr id="7" name="rect 5"/>
          <p:cNvSpPr/>
          <p:nvPr/>
        </p:nvSpPr>
        <p:spPr>
          <a:xfrm>
            <a:off x="1676400" y="1803400"/>
            <a:ext cx="11684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2100" b="1">
                <a:solidFill>
                  <a:srgbClr val="1F1F1F"/>
                </a:solidFill>
                <a:latin typeface="Noto Serif SC"/>
                <a:ea typeface="serif"/>
              </a:rPr>
              <a:t>故事缘起</a:t>
            </a:r>
          </a:p>
        </p:txBody>
      </p:sp>
      <p:sp>
        <p:nvSpPr>
          <p:cNvPr id="8" name="rect 6"/>
          <p:cNvSpPr/>
          <p:nvPr/>
        </p:nvSpPr>
        <p:spPr>
          <a:xfrm>
            <a:off x="3810000" y="1905000"/>
            <a:ext cx="2590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8A8A8A"/>
                </a:solidFill>
                <a:latin typeface="Noto Serif SC"/>
                <a:ea typeface="serif"/>
              </a:rPr>
              <a:t>一个书生，为什么会变成老虎？</a:t>
            </a:r>
          </a:p>
        </p:txBody>
      </p:sp>
      <p:cxnSp>
        <p:nvCxnSpPr>
          <p:cNvPr id="9" name="line 2"/>
          <p:cNvCxnSpPr/>
          <p:nvPr/>
        </p:nvCxnSpPr>
        <p:spPr>
          <a:xfrm>
            <a:off x="812800" y="2330450"/>
            <a:ext cx="10566400" cy="12700"/>
          </a:xfrm>
          <a:prstGeom prst="line">
            <a:avLst/>
          </a:prstGeom>
          <a:noFill/>
          <a:ln w="12700">
            <a:solidFill>
              <a:srgbClr val="EFEBE4"/>
            </a:solidFill>
          </a:ln>
        </p:spPr>
      </p:cxnSp>
      <p:sp>
        <p:nvSpPr>
          <p:cNvPr id="10" name="rect 7"/>
          <p:cNvSpPr/>
          <p:nvPr/>
        </p:nvSpPr>
        <p:spPr>
          <a:xfrm>
            <a:off x="812800" y="2692400"/>
            <a:ext cx="4064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9000"/>
              </a:lnSpc>
            </a:pPr>
            <a:r>
              <a:rPr lang="en-US" sz="2000">
                <a:solidFill>
                  <a:srgbClr val="A6392E"/>
                </a:solidFill>
                <a:latin typeface="Georgia"/>
                <a:ea typeface="serif"/>
              </a:rPr>
              <a:t>02</a:t>
            </a:r>
          </a:p>
        </p:txBody>
      </p:sp>
      <p:sp>
        <p:nvSpPr>
          <p:cNvPr id="11" name="rect 8"/>
          <p:cNvSpPr/>
          <p:nvPr/>
        </p:nvSpPr>
        <p:spPr>
          <a:xfrm>
            <a:off x="1676400" y="2616200"/>
            <a:ext cx="11684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2100" b="1">
                <a:solidFill>
                  <a:srgbClr val="1F1F1F"/>
                </a:solidFill>
                <a:latin typeface="Noto Serif SC"/>
                <a:ea typeface="serif"/>
              </a:rPr>
              <a:t>经典名句</a:t>
            </a:r>
          </a:p>
        </p:txBody>
      </p:sp>
      <p:sp>
        <p:nvSpPr>
          <p:cNvPr id="12" name="rect 9"/>
          <p:cNvSpPr/>
          <p:nvPr/>
        </p:nvSpPr>
        <p:spPr>
          <a:xfrm>
            <a:off x="3810000" y="2717800"/>
            <a:ext cx="2209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8A8A8A"/>
                </a:solidFill>
                <a:latin typeface="Noto Serif SC"/>
                <a:ea typeface="serif"/>
              </a:rPr>
              <a:t>美玉与瓦砾 · 驯兽师与猛兽</a:t>
            </a:r>
          </a:p>
        </p:txBody>
      </p:sp>
      <p:cxnSp>
        <p:nvCxnSpPr>
          <p:cNvPr id="13" name="line 3"/>
          <p:cNvCxnSpPr/>
          <p:nvPr/>
        </p:nvCxnSpPr>
        <p:spPr>
          <a:xfrm>
            <a:off x="812800" y="3143250"/>
            <a:ext cx="10566400" cy="12700"/>
          </a:xfrm>
          <a:prstGeom prst="line">
            <a:avLst/>
          </a:prstGeom>
          <a:noFill/>
          <a:ln w="12700">
            <a:solidFill>
              <a:srgbClr val="EFEBE4"/>
            </a:solidFill>
          </a:ln>
        </p:spPr>
      </p:cxnSp>
      <p:sp>
        <p:nvSpPr>
          <p:cNvPr id="14" name="rect 10"/>
          <p:cNvSpPr/>
          <p:nvPr/>
        </p:nvSpPr>
        <p:spPr>
          <a:xfrm>
            <a:off x="812800" y="3505200"/>
            <a:ext cx="3937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9000"/>
              </a:lnSpc>
            </a:pPr>
            <a:r>
              <a:rPr lang="en-US" sz="2000">
                <a:solidFill>
                  <a:srgbClr val="A6392E"/>
                </a:solidFill>
                <a:latin typeface="Georgia"/>
                <a:ea typeface="serif"/>
              </a:rPr>
              <a:t>03</a:t>
            </a:r>
          </a:p>
        </p:txBody>
      </p:sp>
      <p:sp>
        <p:nvSpPr>
          <p:cNvPr id="15" name="rect 11"/>
          <p:cNvSpPr/>
          <p:nvPr/>
        </p:nvSpPr>
        <p:spPr>
          <a:xfrm>
            <a:off x="1676400" y="3429000"/>
            <a:ext cx="11684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2100" b="1">
                <a:solidFill>
                  <a:srgbClr val="1F1F1F"/>
                </a:solidFill>
                <a:latin typeface="Noto Serif SC"/>
                <a:ea typeface="serif"/>
              </a:rPr>
              <a:t>艺术手法</a:t>
            </a:r>
          </a:p>
        </p:txBody>
      </p:sp>
      <p:sp>
        <p:nvSpPr>
          <p:cNvPr id="16" name="rect 12"/>
          <p:cNvSpPr/>
          <p:nvPr/>
        </p:nvSpPr>
        <p:spPr>
          <a:xfrm>
            <a:off x="3810000" y="3530600"/>
            <a:ext cx="3568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8A8A8A"/>
                </a:solidFill>
                <a:latin typeface="Noto Serif SC"/>
                <a:ea typeface="serif"/>
              </a:rPr>
              <a:t>双重叙事 · 人兽互喻 · 汉文格调 · 元小说自觉</a:t>
            </a:r>
          </a:p>
        </p:txBody>
      </p:sp>
      <p:cxnSp>
        <p:nvCxnSpPr>
          <p:cNvPr id="17" name="line 4"/>
          <p:cNvCxnSpPr/>
          <p:nvPr/>
        </p:nvCxnSpPr>
        <p:spPr>
          <a:xfrm>
            <a:off x="812800" y="3956050"/>
            <a:ext cx="10566400" cy="12700"/>
          </a:xfrm>
          <a:prstGeom prst="line">
            <a:avLst/>
          </a:prstGeom>
          <a:noFill/>
          <a:ln w="12700">
            <a:solidFill>
              <a:srgbClr val="EFEBE4"/>
            </a:solidFill>
          </a:ln>
        </p:spPr>
      </p:cxnSp>
      <p:sp>
        <p:nvSpPr>
          <p:cNvPr id="18" name="rect 13"/>
          <p:cNvSpPr/>
          <p:nvPr/>
        </p:nvSpPr>
        <p:spPr>
          <a:xfrm>
            <a:off x="812800" y="4318000"/>
            <a:ext cx="4064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9000"/>
              </a:lnSpc>
            </a:pPr>
            <a:r>
              <a:rPr lang="en-US" sz="2000">
                <a:solidFill>
                  <a:srgbClr val="A6392E"/>
                </a:solidFill>
                <a:latin typeface="Georgia"/>
                <a:ea typeface="serif"/>
              </a:rPr>
              <a:t>04</a:t>
            </a:r>
          </a:p>
        </p:txBody>
      </p:sp>
      <p:sp>
        <p:nvSpPr>
          <p:cNvPr id="19" name="rect 14"/>
          <p:cNvSpPr/>
          <p:nvPr/>
        </p:nvSpPr>
        <p:spPr>
          <a:xfrm>
            <a:off x="1676400" y="4241800"/>
            <a:ext cx="11684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2100" b="1">
                <a:solidFill>
                  <a:srgbClr val="1F1F1F"/>
                </a:solidFill>
                <a:latin typeface="Noto Serif SC"/>
                <a:ea typeface="serif"/>
              </a:rPr>
              <a:t>人物解读</a:t>
            </a:r>
          </a:p>
        </p:txBody>
      </p:sp>
      <p:sp>
        <p:nvSpPr>
          <p:cNvPr id="20" name="rect 15"/>
          <p:cNvSpPr/>
          <p:nvPr/>
        </p:nvSpPr>
        <p:spPr>
          <a:xfrm>
            <a:off x="3810000" y="4343400"/>
            <a:ext cx="2413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8A8A8A"/>
                </a:solidFill>
                <a:latin typeface="Noto Serif SC"/>
                <a:ea typeface="serif"/>
              </a:rPr>
              <a:t>是怀才不遇，还是眼高手低？</a:t>
            </a:r>
          </a:p>
        </p:txBody>
      </p:sp>
      <p:cxnSp>
        <p:nvCxnSpPr>
          <p:cNvPr id="21" name="line 5"/>
          <p:cNvCxnSpPr/>
          <p:nvPr/>
        </p:nvCxnSpPr>
        <p:spPr>
          <a:xfrm>
            <a:off x="812800" y="4768850"/>
            <a:ext cx="10566400" cy="12700"/>
          </a:xfrm>
          <a:prstGeom prst="line">
            <a:avLst/>
          </a:prstGeom>
          <a:noFill/>
          <a:ln w="12700">
            <a:solidFill>
              <a:srgbClr val="EFEBE4"/>
            </a:solidFill>
          </a:ln>
        </p:spPr>
      </p:cxnSp>
      <p:sp>
        <p:nvSpPr>
          <p:cNvPr id="22" name="rect 16"/>
          <p:cNvSpPr/>
          <p:nvPr/>
        </p:nvSpPr>
        <p:spPr>
          <a:xfrm>
            <a:off x="812800" y="5130800"/>
            <a:ext cx="3937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9000"/>
              </a:lnSpc>
            </a:pPr>
            <a:r>
              <a:rPr lang="en-US" sz="2000">
                <a:solidFill>
                  <a:srgbClr val="A6392E"/>
                </a:solidFill>
                <a:latin typeface="Georgia"/>
                <a:ea typeface="serif"/>
              </a:rPr>
              <a:t>05</a:t>
            </a:r>
          </a:p>
        </p:txBody>
      </p:sp>
      <p:sp>
        <p:nvSpPr>
          <p:cNvPr id="23" name="rect 17"/>
          <p:cNvSpPr/>
          <p:nvPr/>
        </p:nvSpPr>
        <p:spPr>
          <a:xfrm>
            <a:off x="1676400" y="5054600"/>
            <a:ext cx="11684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2100" b="1">
                <a:solidFill>
                  <a:srgbClr val="1F1F1F"/>
                </a:solidFill>
                <a:latin typeface="Noto Serif SC"/>
                <a:ea typeface="serif"/>
              </a:rPr>
              <a:t>观照自我</a:t>
            </a:r>
          </a:p>
        </p:txBody>
      </p:sp>
      <p:sp>
        <p:nvSpPr>
          <p:cNvPr id="24" name="rect 18"/>
          <p:cNvSpPr/>
          <p:nvPr/>
        </p:nvSpPr>
        <p:spPr>
          <a:xfrm>
            <a:off x="3810000" y="5156200"/>
            <a:ext cx="2032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8A8A8A"/>
                </a:solidFill>
                <a:latin typeface="Noto Serif SC"/>
                <a:ea typeface="serif"/>
              </a:rPr>
              <a:t>照镜子的时刻 · 一点启示</a:t>
            </a:r>
          </a:p>
        </p:txBody>
      </p:sp>
      <p:pic>
        <p:nvPicPr>
          <p:cNvPr id="25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267" y="5664200"/>
            <a:ext cx="7919593" cy="812800"/>
          </a:xfrm>
          <a:prstGeom prst="rect">
            <a:avLst/>
          </a:prstGeom>
        </p:spPr>
      </p:pic>
      <p:sp>
        <p:nvSpPr>
          <p:cNvPr id="27" name="rect 20"/>
          <p:cNvSpPr/>
          <p:nvPr/>
        </p:nvSpPr>
        <p:spPr>
          <a:xfrm>
            <a:off x="11125200" y="6540500"/>
            <a:ext cx="2540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22300"/>
            <a:ext cx="1625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3000" b="1">
                <a:solidFill>
                  <a:srgbClr val="1F1F1F"/>
                </a:solidFill>
                <a:latin typeface="Noto Serif SC"/>
                <a:ea typeface="serif"/>
              </a:rPr>
              <a:t>故事缘起</a:t>
            </a:r>
          </a:p>
        </p:txBody>
      </p:sp>
      <p:sp>
        <p:nvSpPr>
          <p:cNvPr id="4" name="rect 3"/>
          <p:cNvSpPr/>
          <p:nvPr/>
        </p:nvSpPr>
        <p:spPr>
          <a:xfrm>
            <a:off x="812800" y="1257300"/>
            <a:ext cx="2768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A6392E"/>
                </a:solidFill>
                <a:latin typeface="Noto Serif SC"/>
                <a:ea typeface="serif"/>
              </a:rPr>
              <a:t>一个书生，为什么会变成老虎？</a:t>
            </a:r>
          </a:p>
        </p:txBody>
      </p:sp>
      <p:cxnSp>
        <p:nvCxnSpPr>
          <p:cNvPr id="5" name="line 1"/>
          <p:cNvCxnSpPr/>
          <p:nvPr/>
        </p:nvCxnSpPr>
        <p:spPr>
          <a:xfrm>
            <a:off x="812800" y="1746250"/>
            <a:ext cx="10566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6" name="rect 4"/>
          <p:cNvSpPr/>
          <p:nvPr/>
        </p:nvSpPr>
        <p:spPr>
          <a:xfrm>
            <a:off x="812800" y="2108200"/>
            <a:ext cx="533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700" b="1">
                <a:solidFill>
                  <a:srgbClr val="A6392E"/>
                </a:solidFill>
                <a:latin typeface="Noto Serif SC"/>
                <a:ea typeface="serif"/>
              </a:rPr>
              <a:t>溯源</a:t>
            </a:r>
          </a:p>
        </p:txBody>
      </p:sp>
      <p:sp>
        <p:nvSpPr>
          <p:cNvPr id="7" name="rect 5"/>
          <p:cNvSpPr/>
          <p:nvPr/>
        </p:nvSpPr>
        <p:spPr>
          <a:xfrm>
            <a:off x="812800" y="2489200"/>
            <a:ext cx="3302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555555"/>
                </a:solidFill>
                <a:latin typeface="Noto Serif SC"/>
                <a:ea typeface="serif"/>
              </a:rPr>
              <a:t>中岛敦取材唐传奇《人虎传》改写而成，</a:t>
            </a:r>
          </a:p>
        </p:txBody>
      </p:sp>
      <p:sp>
        <p:nvSpPr>
          <p:cNvPr id="8" name="rect 6"/>
          <p:cNvSpPr/>
          <p:nvPr/>
        </p:nvSpPr>
        <p:spPr>
          <a:xfrm>
            <a:off x="812800" y="2768600"/>
            <a:ext cx="2667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555555"/>
                </a:solidFill>
                <a:latin typeface="Noto Serif SC"/>
                <a:ea typeface="serif"/>
              </a:rPr>
              <a:t>1942 年发表，是他的出道之作。</a:t>
            </a:r>
          </a:p>
        </p:txBody>
      </p:sp>
      <p:sp>
        <p:nvSpPr>
          <p:cNvPr id="9" name="rect 7"/>
          <p:cNvSpPr/>
          <p:nvPr/>
        </p:nvSpPr>
        <p:spPr>
          <a:xfrm>
            <a:off x="812800" y="3378200"/>
            <a:ext cx="533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700" b="1">
                <a:solidFill>
                  <a:srgbClr val="A6392E"/>
                </a:solidFill>
                <a:latin typeface="Noto Serif SC"/>
                <a:ea typeface="serif"/>
              </a:rPr>
              <a:t>故事</a:t>
            </a:r>
          </a:p>
        </p:txBody>
      </p:sp>
      <p:sp>
        <p:nvSpPr>
          <p:cNvPr id="10" name="rect 8"/>
          <p:cNvSpPr/>
          <p:nvPr/>
        </p:nvSpPr>
        <p:spPr>
          <a:xfrm>
            <a:off x="812800" y="3759200"/>
            <a:ext cx="3124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555555"/>
                </a:solidFill>
                <a:latin typeface="Noto Serif SC"/>
                <a:ea typeface="serif"/>
              </a:rPr>
              <a:t>陇西书生李徵，年少成名，心性孤傲；</a:t>
            </a:r>
          </a:p>
        </p:txBody>
      </p:sp>
      <p:sp>
        <p:nvSpPr>
          <p:cNvPr id="11" name="rect 9"/>
          <p:cNvSpPr/>
          <p:nvPr/>
        </p:nvSpPr>
        <p:spPr>
          <a:xfrm>
            <a:off x="812800" y="4038600"/>
            <a:ext cx="3657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555555"/>
                </a:solidFill>
                <a:latin typeface="Noto Serif SC"/>
                <a:ea typeface="serif"/>
              </a:rPr>
              <a:t>不甘为小吏折腰，一心以诗闻名。一日发狂，</a:t>
            </a:r>
          </a:p>
        </p:txBody>
      </p:sp>
      <p:sp>
        <p:nvSpPr>
          <p:cNvPr id="12" name="rect 10"/>
          <p:cNvSpPr/>
          <p:nvPr/>
        </p:nvSpPr>
        <p:spPr>
          <a:xfrm>
            <a:off x="812800" y="4318000"/>
            <a:ext cx="1879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555555"/>
                </a:solidFill>
                <a:latin typeface="Noto Serif SC"/>
                <a:ea typeface="serif"/>
              </a:rPr>
              <a:t>遁入山林，化作猛虎。</a:t>
            </a:r>
          </a:p>
        </p:txBody>
      </p:sp>
      <p:sp>
        <p:nvSpPr>
          <p:cNvPr id="13" name="rect 11"/>
          <p:cNvSpPr/>
          <p:nvPr/>
        </p:nvSpPr>
        <p:spPr>
          <a:xfrm>
            <a:off x="812800" y="4927600"/>
            <a:ext cx="533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700" b="1">
                <a:solidFill>
                  <a:srgbClr val="A6392E"/>
                </a:solidFill>
                <a:latin typeface="Noto Serif SC"/>
                <a:ea typeface="serif"/>
              </a:rPr>
              <a:t>相遇</a:t>
            </a:r>
          </a:p>
        </p:txBody>
      </p:sp>
      <p:sp>
        <p:nvSpPr>
          <p:cNvPr id="14" name="rect 12"/>
          <p:cNvSpPr/>
          <p:nvPr/>
        </p:nvSpPr>
        <p:spPr>
          <a:xfrm>
            <a:off x="812800" y="5308600"/>
            <a:ext cx="3263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555555"/>
                </a:solidFill>
                <a:latin typeface="Noto Serif SC"/>
                <a:ea typeface="serif"/>
              </a:rPr>
              <a:t>一年后，友人袁傪出使途中路过草丛——</a:t>
            </a:r>
          </a:p>
        </p:txBody>
      </p:sp>
      <p:sp>
        <p:nvSpPr>
          <p:cNvPr id="15" name="rect 13"/>
          <p:cNvSpPr/>
          <p:nvPr/>
        </p:nvSpPr>
        <p:spPr>
          <a:xfrm>
            <a:off x="812800" y="5588000"/>
            <a:ext cx="3302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555555"/>
                </a:solidFill>
                <a:latin typeface="Noto Serif SC"/>
                <a:ea typeface="serif"/>
              </a:rPr>
              <a:t>虎的形貌之下，是半生无人可说的心事。</a:t>
            </a:r>
          </a:p>
        </p:txBody>
      </p:sp>
      <p:pic>
        <p:nvPicPr>
          <p:cNvPr id="1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2032000"/>
            <a:ext cx="3175000" cy="4318000"/>
          </a:xfrm>
          <a:prstGeom prst="rect">
            <a:avLst/>
          </a:prstGeom>
        </p:spPr>
      </p:pic>
      <p:pic>
        <p:nvPicPr>
          <p:cNvPr id="17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381000"/>
            <a:ext cx="2369312" cy="1549400"/>
          </a:xfrm>
          <a:prstGeom prst="rect">
            <a:avLst/>
          </a:prstGeom>
        </p:spPr>
      </p:pic>
      <p:sp>
        <p:nvSpPr>
          <p:cNvPr id="18" name="rect 14"/>
          <p:cNvSpPr/>
          <p:nvPr/>
        </p:nvSpPr>
        <p:spPr>
          <a:xfrm>
            <a:off x="7366000" y="2019300"/>
            <a:ext cx="17653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</a:pPr>
            <a:r>
              <a:rPr lang="zh-CN" sz="1100">
                <a:solidFill>
                  <a:srgbClr val="B8B4AC"/>
                </a:solidFill>
                <a:latin typeface="Noto Serif SC"/>
                <a:ea typeface="serif"/>
              </a:rPr>
              <a:t>作者中岛敦（1909–1942）</a:t>
            </a:r>
          </a:p>
        </p:txBody>
      </p:sp>
      <p:sp>
        <p:nvSpPr>
          <p:cNvPr id="20" name="rect 16"/>
          <p:cNvSpPr/>
          <p:nvPr/>
        </p:nvSpPr>
        <p:spPr>
          <a:xfrm>
            <a:off x="11125200" y="6540500"/>
            <a:ext cx="2540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22300"/>
            <a:ext cx="2768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3000" b="1">
                <a:solidFill>
                  <a:srgbClr val="1F1F1F"/>
                </a:solidFill>
                <a:latin typeface="Noto Serif SC"/>
                <a:ea typeface="serif"/>
              </a:rPr>
              <a:t>最戳人的一句话</a:t>
            </a:r>
          </a:p>
        </p:txBody>
      </p:sp>
      <p:sp>
        <p:nvSpPr>
          <p:cNvPr id="4" name="rect 3"/>
          <p:cNvSpPr/>
          <p:nvPr/>
        </p:nvSpPr>
        <p:spPr>
          <a:xfrm>
            <a:off x="812800" y="1257300"/>
            <a:ext cx="3530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A6392E"/>
                </a:solidFill>
                <a:latin typeface="Noto Serif SC"/>
                <a:ea typeface="serif"/>
              </a:rPr>
              <a:t>为什么这句话，读完心里堵了好一会儿？</a:t>
            </a:r>
          </a:p>
        </p:txBody>
      </p:sp>
      <p:cxnSp>
        <p:nvCxnSpPr>
          <p:cNvPr id="5" name="line 1"/>
          <p:cNvCxnSpPr/>
          <p:nvPr/>
        </p:nvCxnSpPr>
        <p:spPr>
          <a:xfrm>
            <a:off x="812800" y="1746250"/>
            <a:ext cx="10566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6" name="rect 4"/>
          <p:cNvSpPr/>
          <p:nvPr/>
        </p:nvSpPr>
        <p:spPr>
          <a:xfrm>
            <a:off x="3314700" y="2019300"/>
            <a:ext cx="5562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2000">
                <a:solidFill>
                  <a:srgbClr val="1F1F1F"/>
                </a:solidFill>
                <a:latin typeface="KaiTi"/>
                <a:ea typeface="KaiTi"/>
              </a:rPr>
              <a:t>「我深怕自己本非美玉，故而不敢加以刻苦琢磨；</a:t>
            </a:r>
          </a:p>
        </p:txBody>
      </p:sp>
      <p:sp>
        <p:nvSpPr>
          <p:cNvPr id="7" name="rect 5"/>
          <p:cNvSpPr/>
          <p:nvPr/>
        </p:nvSpPr>
        <p:spPr>
          <a:xfrm>
            <a:off x="2743200" y="2400300"/>
            <a:ext cx="6705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2000">
                <a:solidFill>
                  <a:srgbClr val="1F1F1F"/>
                </a:solidFill>
                <a:latin typeface="KaiTi"/>
                <a:ea typeface="KaiTi"/>
              </a:rPr>
              <a:t>却又半信自己是块美玉，故又不肯庸庸碌碌，与瓦砾为伍。</a:t>
            </a:r>
          </a:p>
        </p:txBody>
      </p:sp>
      <p:sp>
        <p:nvSpPr>
          <p:cNvPr id="8" name="rect 6"/>
          <p:cNvSpPr/>
          <p:nvPr/>
        </p:nvSpPr>
        <p:spPr>
          <a:xfrm>
            <a:off x="4013200" y="2781300"/>
            <a:ext cx="4165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2000">
                <a:solidFill>
                  <a:srgbClr val="1F1F1F"/>
                </a:solidFill>
                <a:latin typeface="KaiTi"/>
                <a:ea typeface="KaiTi"/>
              </a:rPr>
              <a:t>于是我渐渐地脱离凡尘，疏远世人，</a:t>
            </a:r>
          </a:p>
        </p:txBody>
      </p:sp>
      <p:sp>
        <p:nvSpPr>
          <p:cNvPr id="9" name="rect 7"/>
          <p:cNvSpPr/>
          <p:nvPr/>
        </p:nvSpPr>
        <p:spPr>
          <a:xfrm>
            <a:off x="2806700" y="3162300"/>
            <a:ext cx="6578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2000">
                <a:solidFill>
                  <a:srgbClr val="1F1F1F"/>
                </a:solidFill>
                <a:latin typeface="KaiTi"/>
                <a:ea typeface="KaiTi"/>
              </a:rPr>
              <a:t>结果便是一任愤懑与羞恨日益助长内心那怯弱的自尊心。」</a:t>
            </a:r>
          </a:p>
        </p:txBody>
      </p:sp>
      <p:sp>
        <p:nvSpPr>
          <p:cNvPr id="10" name="rect 8"/>
          <p:cNvSpPr/>
          <p:nvPr/>
        </p:nvSpPr>
        <p:spPr>
          <a:xfrm>
            <a:off x="5067300" y="3568700"/>
            <a:ext cx="2057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lang="zh-CN" sz="1300">
                <a:solidFill>
                  <a:srgbClr val="8A8A8A"/>
                </a:solidFill>
                <a:latin typeface="Noto Serif SC"/>
                <a:ea typeface="serif"/>
              </a:rPr>
              <a:t>—— 李徵的自白 · 名句全文</a:t>
            </a:r>
          </a:p>
        </p:txBody>
      </p:sp>
      <p:sp>
        <p:nvSpPr>
          <p:cNvPr id="11" name="rect 9"/>
          <p:cNvSpPr/>
          <p:nvPr/>
        </p:nvSpPr>
        <p:spPr>
          <a:xfrm>
            <a:off x="812800" y="4089400"/>
            <a:ext cx="3251200" cy="14986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10"/>
          <p:cNvSpPr/>
          <p:nvPr/>
        </p:nvSpPr>
        <p:spPr>
          <a:xfrm>
            <a:off x="1066800" y="4229100"/>
            <a:ext cx="1816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怕非美玉，不敢深耕</a:t>
            </a:r>
          </a:p>
        </p:txBody>
      </p:sp>
      <p:sp>
        <p:nvSpPr>
          <p:cNvPr id="13" name="rect 11"/>
          <p:cNvSpPr/>
          <p:nvPr/>
        </p:nvSpPr>
        <p:spPr>
          <a:xfrm>
            <a:off x="1066800" y="4584700"/>
            <a:ext cx="208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怀疑自己的才华：不敢求师</a:t>
            </a:r>
          </a:p>
        </p:txBody>
      </p:sp>
      <p:sp>
        <p:nvSpPr>
          <p:cNvPr id="14" name="rect 12"/>
          <p:cNvSpPr/>
          <p:nvPr/>
        </p:nvSpPr>
        <p:spPr>
          <a:xfrm>
            <a:off x="1066800" y="4851400"/>
            <a:ext cx="208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问学，也不敢与好友切磋。</a:t>
            </a:r>
          </a:p>
        </p:txBody>
      </p:sp>
      <p:sp>
        <p:nvSpPr>
          <p:cNvPr id="15" name="rect 13"/>
          <p:cNvSpPr/>
          <p:nvPr/>
        </p:nvSpPr>
        <p:spPr>
          <a:xfrm>
            <a:off x="4470400" y="4089400"/>
            <a:ext cx="3251200" cy="14986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4"/>
          <p:cNvSpPr/>
          <p:nvPr/>
        </p:nvSpPr>
        <p:spPr>
          <a:xfrm>
            <a:off x="4724400" y="4229100"/>
            <a:ext cx="1816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又信美玉，不甘平庸</a:t>
            </a:r>
          </a:p>
        </p:txBody>
      </p:sp>
      <p:sp>
        <p:nvSpPr>
          <p:cNvPr id="17" name="rect 15"/>
          <p:cNvSpPr/>
          <p:nvPr/>
        </p:nvSpPr>
        <p:spPr>
          <a:xfrm>
            <a:off x="4724400" y="4584700"/>
            <a:ext cx="208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自视清高：不屑与凡夫俗子</a:t>
            </a:r>
          </a:p>
        </p:txBody>
      </p:sp>
      <p:sp>
        <p:nvSpPr>
          <p:cNvPr id="18" name="rect 16"/>
          <p:cNvSpPr/>
          <p:nvPr/>
        </p:nvSpPr>
        <p:spPr>
          <a:xfrm>
            <a:off x="4724400" y="4851400"/>
            <a:ext cx="208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为伍，不肯落地踏实用功。</a:t>
            </a:r>
          </a:p>
        </p:txBody>
      </p:sp>
      <p:sp>
        <p:nvSpPr>
          <p:cNvPr id="19" name="rect 17"/>
          <p:cNvSpPr/>
          <p:nvPr/>
        </p:nvSpPr>
        <p:spPr>
          <a:xfrm>
            <a:off x="8128000" y="4089400"/>
            <a:ext cx="3251200" cy="14986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18"/>
          <p:cNvSpPr/>
          <p:nvPr/>
        </p:nvSpPr>
        <p:spPr>
          <a:xfrm>
            <a:off x="8382000" y="4229100"/>
            <a:ext cx="86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内耗困局</a:t>
            </a:r>
          </a:p>
        </p:txBody>
      </p:sp>
      <p:sp>
        <p:nvSpPr>
          <p:cNvPr id="21" name="rect 19"/>
          <p:cNvSpPr/>
          <p:nvPr/>
        </p:nvSpPr>
        <p:spPr>
          <a:xfrm>
            <a:off x="8382000" y="4584700"/>
            <a:ext cx="2247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用逃避掩盖怯懦，用自负掩饰</a:t>
            </a:r>
          </a:p>
        </p:txBody>
      </p:sp>
      <p:sp>
        <p:nvSpPr>
          <p:cNvPr id="22" name="rect 20"/>
          <p:cNvSpPr/>
          <p:nvPr/>
        </p:nvSpPr>
        <p:spPr>
          <a:xfrm>
            <a:off x="8382000" y="4851400"/>
            <a:ext cx="3035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自卑——思想上的巨人，行动上的矮子。</a:t>
            </a:r>
          </a:p>
        </p:txBody>
      </p:sp>
      <p:sp>
        <p:nvSpPr>
          <p:cNvPr id="23" name="rect 21"/>
          <p:cNvSpPr/>
          <p:nvPr/>
        </p:nvSpPr>
        <p:spPr>
          <a:xfrm>
            <a:off x="812800" y="5816600"/>
            <a:ext cx="68453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</a:pPr>
            <a:r>
              <a:rPr lang="zh-CN" sz="1200">
                <a:solidFill>
                  <a:srgbClr val="8A8A8A"/>
                </a:solidFill>
                <a:latin typeface="Noto Serif SC"/>
                <a:ea typeface="serif"/>
              </a:rPr>
              <a:t>注：李徵曾被誉为「乡党之鬼才」，才华已被部分认可——正因为尝过认可，自尊与羞耻才同时疯长。</a:t>
            </a:r>
          </a:p>
        </p:txBody>
      </p:sp>
      <p:sp>
        <p:nvSpPr>
          <p:cNvPr id="25" name="rect 23"/>
          <p:cNvSpPr/>
          <p:nvPr/>
        </p:nvSpPr>
        <p:spPr>
          <a:xfrm>
            <a:off x="11125200" y="6540500"/>
            <a:ext cx="2540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22300"/>
            <a:ext cx="2387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3000" b="1">
                <a:solidFill>
                  <a:srgbClr val="1F1F1F"/>
                </a:solidFill>
                <a:latin typeface="Noto Serif SC"/>
                <a:ea typeface="serif"/>
              </a:rPr>
              <a:t>驯兽师与猛兽</a:t>
            </a:r>
          </a:p>
        </p:txBody>
      </p:sp>
      <p:sp>
        <p:nvSpPr>
          <p:cNvPr id="4" name="rect 3"/>
          <p:cNvSpPr/>
          <p:nvPr/>
        </p:nvSpPr>
        <p:spPr>
          <a:xfrm>
            <a:off x="812800" y="1257300"/>
            <a:ext cx="5626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A6392E"/>
                </a:solidFill>
                <a:latin typeface="Noto Serif SC"/>
                <a:ea typeface="serif"/>
              </a:rPr>
              <a:t>其实，任何人都是驯兽师，而那野兽，无非就是各人的性情而已。</a:t>
            </a:r>
          </a:p>
        </p:txBody>
      </p:sp>
      <p:cxnSp>
        <p:nvCxnSpPr>
          <p:cNvPr id="5" name="line 1"/>
          <p:cNvCxnSpPr/>
          <p:nvPr/>
        </p:nvCxnSpPr>
        <p:spPr>
          <a:xfrm>
            <a:off x="812800" y="1746250"/>
            <a:ext cx="10566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6" name="rect 4"/>
          <p:cNvSpPr/>
          <p:nvPr/>
        </p:nvSpPr>
        <p:spPr>
          <a:xfrm>
            <a:off x="812800" y="2120900"/>
            <a:ext cx="86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点破主旨</a:t>
            </a:r>
          </a:p>
        </p:txBody>
      </p:sp>
      <p:sp>
        <p:nvSpPr>
          <p:cNvPr id="7" name="rect 5"/>
          <p:cNvSpPr/>
          <p:nvPr/>
        </p:nvSpPr>
        <p:spPr>
          <a:xfrm>
            <a:off x="2540000" y="2146300"/>
            <a:ext cx="4064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那些冠冕堂皇的话，无非是害怕暴露才华不足的恐惧，</a:t>
            </a:r>
          </a:p>
        </p:txBody>
      </p:sp>
      <p:sp>
        <p:nvSpPr>
          <p:cNvPr id="8" name="rect 6"/>
          <p:cNvSpPr/>
          <p:nvPr/>
        </p:nvSpPr>
        <p:spPr>
          <a:xfrm>
            <a:off x="2540000" y="2400300"/>
            <a:ext cx="2247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和不肯刻苦用功的怠惰而已。</a:t>
            </a:r>
          </a:p>
        </p:txBody>
      </p:sp>
      <p:sp>
        <p:nvSpPr>
          <p:cNvPr id="9" name="rect 7"/>
          <p:cNvSpPr/>
          <p:nvPr/>
        </p:nvSpPr>
        <p:spPr>
          <a:xfrm>
            <a:off x="812800" y="28321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对照</a:t>
            </a:r>
          </a:p>
        </p:txBody>
      </p:sp>
      <p:sp>
        <p:nvSpPr>
          <p:cNvPr id="10" name="rect 8"/>
          <p:cNvSpPr/>
          <p:nvPr/>
        </p:nvSpPr>
        <p:spPr>
          <a:xfrm>
            <a:off x="2540000" y="2857500"/>
            <a:ext cx="4064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当年不少才华远逊于他的人，肯努力、不停磨砺自己，</a:t>
            </a:r>
          </a:p>
        </p:txBody>
      </p:sp>
      <p:sp>
        <p:nvSpPr>
          <p:cNvPr id="11" name="rect 9"/>
          <p:cNvSpPr/>
          <p:nvPr/>
        </p:nvSpPr>
        <p:spPr>
          <a:xfrm>
            <a:off x="2540000" y="3111500"/>
            <a:ext cx="2578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最终脱颖而出；他却停在了原地。</a:t>
            </a:r>
          </a:p>
        </p:txBody>
      </p:sp>
      <p:sp>
        <p:nvSpPr>
          <p:cNvPr id="12" name="rect 10"/>
          <p:cNvSpPr/>
          <p:nvPr/>
        </p:nvSpPr>
        <p:spPr>
          <a:xfrm>
            <a:off x="812800" y="35433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代价</a:t>
            </a:r>
          </a:p>
        </p:txBody>
      </p:sp>
      <p:sp>
        <p:nvSpPr>
          <p:cNvPr id="13" name="rect 11"/>
          <p:cNvSpPr/>
          <p:nvPr/>
        </p:nvSpPr>
        <p:spPr>
          <a:xfrm>
            <a:off x="2540000" y="3568700"/>
            <a:ext cx="4356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虚掷的光阴一去不返，如今只能对空谷长啸、抒发愤懑——</a:t>
            </a:r>
          </a:p>
        </p:txBody>
      </p:sp>
      <p:sp>
        <p:nvSpPr>
          <p:cNvPr id="14" name="rect 12"/>
          <p:cNvSpPr/>
          <p:nvPr/>
        </p:nvSpPr>
        <p:spPr>
          <a:xfrm>
            <a:off x="2540000" y="3822700"/>
            <a:ext cx="2908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可旁人听来，无非是一头野兽在怒吼。</a:t>
            </a:r>
          </a:p>
        </p:txBody>
      </p:sp>
      <p:sp>
        <p:nvSpPr>
          <p:cNvPr id="15" name="rect 13"/>
          <p:cNvSpPr/>
          <p:nvPr/>
        </p:nvSpPr>
        <p:spPr>
          <a:xfrm>
            <a:off x="812800" y="42545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共鸣</a:t>
            </a:r>
          </a:p>
        </p:txBody>
      </p:sp>
      <p:sp>
        <p:nvSpPr>
          <p:cNvPr id="16" name="rect 14"/>
          <p:cNvSpPr/>
          <p:nvPr/>
        </p:nvSpPr>
        <p:spPr>
          <a:xfrm>
            <a:off x="2540000" y="4279900"/>
            <a:ext cx="4394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每个人的心底都藏着一头猛兽：执念、虚荣、怯懦、傲慢。</a:t>
            </a:r>
          </a:p>
        </p:txBody>
      </p:sp>
      <p:sp>
        <p:nvSpPr>
          <p:cNvPr id="17" name="rect 15"/>
          <p:cNvSpPr/>
          <p:nvPr/>
        </p:nvSpPr>
        <p:spPr>
          <a:xfrm>
            <a:off x="2540000" y="4533900"/>
            <a:ext cx="4025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人生的修行，是驯服它、与它共处——而非被它吞噬。</a:t>
            </a:r>
          </a:p>
        </p:txBody>
      </p:sp>
      <p:cxnSp>
        <p:nvCxnSpPr>
          <p:cNvPr id="18" name="line 2"/>
          <p:cNvCxnSpPr/>
          <p:nvPr/>
        </p:nvCxnSpPr>
        <p:spPr>
          <a:xfrm>
            <a:off x="812800" y="5124450"/>
            <a:ext cx="5283200" cy="12700"/>
          </a:xfrm>
          <a:prstGeom prst="line">
            <a:avLst/>
          </a:prstGeom>
          <a:noFill/>
          <a:ln w="12700">
            <a:solidFill>
              <a:srgbClr val="EFEBE4"/>
            </a:solidFill>
          </a:ln>
        </p:spPr>
      </p:cxnSp>
      <p:sp>
        <p:nvSpPr>
          <p:cNvPr id="19" name="rect 16"/>
          <p:cNvSpPr/>
          <p:nvPr/>
        </p:nvSpPr>
        <p:spPr>
          <a:xfrm>
            <a:off x="812800" y="5359400"/>
            <a:ext cx="5384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</a:pPr>
            <a:r>
              <a:rPr lang="zh-CN" sz="1600">
                <a:solidFill>
                  <a:srgbClr val="1F1F1F"/>
                </a:solidFill>
                <a:latin typeface="KaiTi"/>
                <a:ea typeface="KaiTi"/>
              </a:rPr>
              <a:t>「于我而言，这种妄自尊大的羞耻心就是野兽，就是猛虎。」</a:t>
            </a:r>
          </a:p>
        </p:txBody>
      </p:sp>
      <p:pic>
        <p:nvPicPr>
          <p:cNvPr id="20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2159000"/>
            <a:ext cx="4775200" cy="3644900"/>
          </a:xfrm>
          <a:prstGeom prst="rect">
            <a:avLst/>
          </a:prstGeom>
        </p:spPr>
      </p:pic>
      <p:sp>
        <p:nvSpPr>
          <p:cNvPr id="21" name="rect 17"/>
          <p:cNvSpPr/>
          <p:nvPr/>
        </p:nvSpPr>
        <p:spPr>
          <a:xfrm>
            <a:off x="6604000" y="5905500"/>
            <a:ext cx="18923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</a:pPr>
            <a:r>
              <a:rPr lang="zh-CN" sz="1100">
                <a:solidFill>
                  <a:srgbClr val="B8B4AC"/>
                </a:solidFill>
                <a:latin typeface="Noto Serif SC"/>
                <a:ea typeface="serif"/>
              </a:rPr>
              <a:t>雪村笔 · 水墨虎（屏风局部）</a:t>
            </a:r>
          </a:p>
        </p:txBody>
      </p:sp>
      <p:sp>
        <p:nvSpPr>
          <p:cNvPr id="23" name="rect 19"/>
          <p:cNvSpPr/>
          <p:nvPr/>
        </p:nvSpPr>
        <p:spPr>
          <a:xfrm>
            <a:off x="11125200" y="6540500"/>
            <a:ext cx="2540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22300"/>
            <a:ext cx="38481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3000" b="1">
                <a:solidFill>
                  <a:srgbClr val="1F1F1F"/>
                </a:solidFill>
                <a:latin typeface="Noto Serif SC"/>
                <a:ea typeface="serif"/>
              </a:rPr>
              <a:t>手法一 · 双重叙事结构</a:t>
            </a:r>
          </a:p>
        </p:txBody>
      </p:sp>
      <p:sp>
        <p:nvSpPr>
          <p:cNvPr id="4" name="rect 3"/>
          <p:cNvSpPr/>
          <p:nvPr/>
        </p:nvSpPr>
        <p:spPr>
          <a:xfrm>
            <a:off x="812800" y="1257300"/>
            <a:ext cx="3149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A6392E"/>
                </a:solidFill>
                <a:latin typeface="Noto Serif SC"/>
                <a:ea typeface="serif"/>
              </a:rPr>
              <a:t>离奇的故事，为什么反而显得真实？</a:t>
            </a:r>
          </a:p>
        </p:txBody>
      </p:sp>
      <p:cxnSp>
        <p:nvCxnSpPr>
          <p:cNvPr id="5" name="line 1"/>
          <p:cNvCxnSpPr/>
          <p:nvPr/>
        </p:nvCxnSpPr>
        <p:spPr>
          <a:xfrm>
            <a:off x="812800" y="1746250"/>
            <a:ext cx="10566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6" name="rect 4"/>
          <p:cNvSpPr/>
          <p:nvPr/>
        </p:nvSpPr>
        <p:spPr>
          <a:xfrm>
            <a:off x="812800" y="2159000"/>
            <a:ext cx="4826000" cy="1651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117600" y="2336800"/>
            <a:ext cx="18923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</a:pPr>
            <a:r>
              <a:rPr lang="zh-CN" sz="1600" b="1">
                <a:solidFill>
                  <a:srgbClr val="A6392E"/>
                </a:solidFill>
                <a:latin typeface="Noto Serif SC"/>
                <a:ea typeface="serif"/>
              </a:rPr>
              <a:t>前半 · 第一人称独白</a:t>
            </a:r>
          </a:p>
        </p:txBody>
      </p:sp>
      <p:sp>
        <p:nvSpPr>
          <p:cNvPr id="8" name="rect 6"/>
          <p:cNvSpPr/>
          <p:nvPr/>
        </p:nvSpPr>
        <p:spPr>
          <a:xfrm>
            <a:off x="1117600" y="2755900"/>
            <a:ext cx="2413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长安道中，袁傪听李徵亲口讲述</a:t>
            </a:r>
          </a:p>
        </p:txBody>
      </p:sp>
      <p:sp>
        <p:nvSpPr>
          <p:cNvPr id="9" name="rect 7"/>
          <p:cNvSpPr/>
          <p:nvPr/>
        </p:nvSpPr>
        <p:spPr>
          <a:xfrm>
            <a:off x="1117600" y="3035300"/>
            <a:ext cx="2540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自己变成虎的经过——直面忏悔，</a:t>
            </a:r>
          </a:p>
        </p:txBody>
      </p:sp>
      <p:sp>
        <p:nvSpPr>
          <p:cNvPr id="10" name="rect 8"/>
          <p:cNvSpPr/>
          <p:nvPr/>
        </p:nvSpPr>
        <p:spPr>
          <a:xfrm>
            <a:off x="1117600" y="3314700"/>
            <a:ext cx="2578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情绪最浓烈的部分由「我」说出。</a:t>
            </a:r>
          </a:p>
        </p:txBody>
      </p:sp>
      <p:sp>
        <p:nvSpPr>
          <p:cNvPr id="11" name="rect 9"/>
          <p:cNvSpPr/>
          <p:nvPr/>
        </p:nvSpPr>
        <p:spPr>
          <a:xfrm>
            <a:off x="6553200" y="2159000"/>
            <a:ext cx="4826000" cy="1651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10"/>
          <p:cNvSpPr/>
          <p:nvPr/>
        </p:nvSpPr>
        <p:spPr>
          <a:xfrm>
            <a:off x="6858000" y="2336800"/>
            <a:ext cx="18923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</a:pPr>
            <a:r>
              <a:rPr lang="zh-CN" sz="1600" b="1">
                <a:solidFill>
                  <a:srgbClr val="A6392E"/>
                </a:solidFill>
                <a:latin typeface="Noto Serif SC"/>
                <a:ea typeface="serif"/>
              </a:rPr>
              <a:t>后半 · 第三人称补叙</a:t>
            </a:r>
          </a:p>
        </p:txBody>
      </p:sp>
      <p:sp>
        <p:nvSpPr>
          <p:cNvPr id="13" name="rect 11"/>
          <p:cNvSpPr/>
          <p:nvPr/>
        </p:nvSpPr>
        <p:spPr>
          <a:xfrm>
            <a:off x="6858000" y="2755900"/>
            <a:ext cx="2832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「李徵旧文」与旁观者视角接续叙事，</a:t>
            </a:r>
          </a:p>
        </p:txBody>
      </p:sp>
      <p:sp>
        <p:nvSpPr>
          <p:cNvPr id="14" name="rect 12"/>
          <p:cNvSpPr/>
          <p:nvPr/>
        </p:nvSpPr>
        <p:spPr>
          <a:xfrm>
            <a:off x="6858000" y="3035300"/>
            <a:ext cx="2044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像史书引证旧籍——把故事</a:t>
            </a:r>
          </a:p>
        </p:txBody>
      </p:sp>
      <p:sp>
        <p:nvSpPr>
          <p:cNvPr id="15" name="rect 13"/>
          <p:cNvSpPr/>
          <p:nvPr/>
        </p:nvSpPr>
        <p:spPr>
          <a:xfrm>
            <a:off x="6858000" y="3314700"/>
            <a:ext cx="1917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放进「文献」的框架里。</a:t>
            </a:r>
          </a:p>
        </p:txBody>
      </p:sp>
      <p:sp>
        <p:nvSpPr>
          <p:cNvPr id="16" name="rect 14"/>
          <p:cNvSpPr/>
          <p:nvPr/>
        </p:nvSpPr>
        <p:spPr>
          <a:xfrm>
            <a:off x="3225800" y="3810000"/>
            <a:ext cx="2641600" cy="508000"/>
          </a:xfrm>
          <a:custGeom>
            <a:avLst/>
            <a:gdLst/>
            <a:ahLst/>
            <a:cxnLst/>
            <a:rect l="0" t="0" r="0" b="0"/>
            <a:pathLst>
              <a:path w="208" h="40">
                <a:moveTo>
                  <a:pt x="0" y="0"/>
                </a:moveTo>
                <a:lnTo>
                  <a:pt x="0" y="40"/>
                </a:lnTo>
                <a:lnTo>
                  <a:pt x="208" y="40"/>
                </a:lnTo>
              </a:path>
            </a:pathLst>
          </a:custGeom>
          <a:noFill/>
          <a:ln w="19050">
            <a:solidFill>
              <a:srgbClr val="A639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5"/>
          <p:cNvSpPr/>
          <p:nvPr/>
        </p:nvSpPr>
        <p:spPr>
          <a:xfrm>
            <a:off x="6324600" y="3810000"/>
            <a:ext cx="2641600" cy="508000"/>
          </a:xfrm>
          <a:custGeom>
            <a:avLst/>
            <a:gdLst/>
            <a:ahLst/>
            <a:cxnLst/>
            <a:rect l="0" t="0" r="0" b="0"/>
            <a:pathLst>
              <a:path w="208" h="40">
                <a:moveTo>
                  <a:pt x="208" y="0"/>
                </a:moveTo>
                <a:lnTo>
                  <a:pt x="208" y="40"/>
                </a:lnTo>
                <a:lnTo>
                  <a:pt x="0" y="40"/>
                </a:lnTo>
              </a:path>
            </a:pathLst>
          </a:custGeom>
          <a:noFill/>
          <a:ln w="19050">
            <a:solidFill>
              <a:srgbClr val="A639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16"/>
          <p:cNvSpPr/>
          <p:nvPr/>
        </p:nvSpPr>
        <p:spPr>
          <a:xfrm>
            <a:off x="5715000" y="4241800"/>
            <a:ext cx="152400" cy="152400"/>
          </a:xfrm>
          <a:custGeom>
            <a:avLst/>
            <a:gdLst/>
            <a:ahLst/>
            <a:cxnLst/>
            <a:rect l="0" t="0" r="0" b="0"/>
            <a:pathLst>
              <a:path w="12" h="12">
                <a:moveTo>
                  <a:pt x="12" y="6"/>
                </a:moveTo>
                <a:lnTo>
                  <a:pt x="0" y="0"/>
                </a:lnTo>
                <a:lnTo>
                  <a:pt x="0" y="12"/>
                </a:lnTo>
                <a:close/>
              </a:path>
            </a:pathLst>
          </a:custGeom>
          <a:solidFill>
            <a:srgbClr val="A639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7"/>
          <p:cNvSpPr/>
          <p:nvPr/>
        </p:nvSpPr>
        <p:spPr>
          <a:xfrm>
            <a:off x="6324600" y="4241800"/>
            <a:ext cx="152400" cy="152400"/>
          </a:xfrm>
          <a:custGeom>
            <a:avLst/>
            <a:gdLst/>
            <a:ahLst/>
            <a:cxnLst/>
            <a:rect l="0" t="0" r="0" b="0"/>
            <a:pathLst>
              <a:path w="12" h="12">
                <a:moveTo>
                  <a:pt x="0" y="6"/>
                </a:moveTo>
                <a:lnTo>
                  <a:pt x="12" y="0"/>
                </a:lnTo>
                <a:lnTo>
                  <a:pt x="12" y="12"/>
                </a:lnTo>
                <a:close/>
              </a:path>
            </a:pathLst>
          </a:custGeom>
          <a:solidFill>
            <a:srgbClr val="A639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 18"/>
          <p:cNvSpPr/>
          <p:nvPr/>
        </p:nvSpPr>
        <p:spPr>
          <a:xfrm>
            <a:off x="812800" y="4648200"/>
            <a:ext cx="105664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39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9"/>
          <p:cNvSpPr/>
          <p:nvPr/>
        </p:nvSpPr>
        <p:spPr>
          <a:xfrm>
            <a:off x="4724400" y="4876800"/>
            <a:ext cx="2743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1600" b="1">
                <a:solidFill>
                  <a:srgbClr val="1F1F1F"/>
                </a:solidFill>
                <a:latin typeface="Noto Serif SC"/>
                <a:ea typeface="serif"/>
              </a:rPr>
              <a:t>两个视角互相印证、互相补充</a:t>
            </a:r>
          </a:p>
        </p:txBody>
      </p:sp>
      <p:sp>
        <p:nvSpPr>
          <p:cNvPr id="22" name="rect 20"/>
          <p:cNvSpPr/>
          <p:nvPr/>
        </p:nvSpPr>
        <p:spPr>
          <a:xfrm>
            <a:off x="3175000" y="5270500"/>
            <a:ext cx="584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让「人变虎」这个离奇的故事，有了一种文献记实的质感——越离奇，越可信。</a:t>
            </a:r>
          </a:p>
        </p:txBody>
      </p:sp>
      <p:sp>
        <p:nvSpPr>
          <p:cNvPr id="24" name="rect 22"/>
          <p:cNvSpPr/>
          <p:nvPr/>
        </p:nvSpPr>
        <p:spPr>
          <a:xfrm>
            <a:off x="11125200" y="6540500"/>
            <a:ext cx="2540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-63500" y="-6985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22300"/>
            <a:ext cx="30861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3000" b="1">
                <a:solidFill>
                  <a:srgbClr val="1F1F1F"/>
                </a:solidFill>
                <a:latin typeface="Noto Serif SC"/>
                <a:ea typeface="serif"/>
              </a:rPr>
              <a:t>手法二 · 人兽互喻</a:t>
            </a:r>
          </a:p>
        </p:txBody>
      </p:sp>
      <p:sp>
        <p:nvSpPr>
          <p:cNvPr id="4" name="rect 3"/>
          <p:cNvSpPr/>
          <p:nvPr/>
        </p:nvSpPr>
        <p:spPr>
          <a:xfrm>
            <a:off x="812800" y="1257300"/>
            <a:ext cx="3911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A6392E"/>
                </a:solidFill>
                <a:latin typeface="Noto Serif SC"/>
                <a:ea typeface="serif"/>
              </a:rPr>
              <a:t>变虎，不是一瞬的法术，而是一点点的兽化。</a:t>
            </a:r>
          </a:p>
        </p:txBody>
      </p:sp>
      <p:cxnSp>
        <p:nvCxnSpPr>
          <p:cNvPr id="5" name="line 1"/>
          <p:cNvCxnSpPr/>
          <p:nvPr/>
        </p:nvCxnSpPr>
        <p:spPr>
          <a:xfrm>
            <a:off x="812800" y="1746250"/>
            <a:ext cx="10566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6" name="rect 4"/>
          <p:cNvSpPr/>
          <p:nvPr/>
        </p:nvSpPr>
        <p:spPr>
          <a:xfrm>
            <a:off x="812800" y="2082800"/>
            <a:ext cx="29972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zh-CN" sz="1900">
                <a:solidFill>
                  <a:srgbClr val="1F1F1F"/>
                </a:solidFill>
                <a:latin typeface="KaiTi"/>
                <a:ea typeface="KaiTi"/>
              </a:rPr>
              <a:t>「现在的我，是一只野兽。」</a:t>
            </a:r>
          </a:p>
        </p:txBody>
      </p:sp>
      <p:sp>
        <p:nvSpPr>
          <p:cNvPr id="7" name="rect 5"/>
          <p:cNvSpPr/>
          <p:nvPr/>
        </p:nvSpPr>
        <p:spPr>
          <a:xfrm>
            <a:off x="812800" y="2692400"/>
            <a:ext cx="10566400" cy="3302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1168400" y="27305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人性未泯</a:t>
            </a:r>
          </a:p>
        </p:txBody>
      </p:sp>
      <p:sp>
        <p:nvSpPr>
          <p:cNvPr id="9" name="rect 7"/>
          <p:cNvSpPr/>
          <p:nvPr/>
        </p:nvSpPr>
        <p:spPr>
          <a:xfrm>
            <a:off x="10261600" y="27305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兽性渐盛</a:t>
            </a:r>
          </a:p>
        </p:txBody>
      </p:sp>
      <p:cxnSp>
        <p:nvCxnSpPr>
          <p:cNvPr id="10" name="line 2"/>
          <p:cNvCxnSpPr/>
          <p:nvPr/>
        </p:nvCxnSpPr>
        <p:spPr>
          <a:xfrm>
            <a:off x="2286000" y="2851150"/>
            <a:ext cx="7874000" cy="12700"/>
          </a:xfrm>
          <a:prstGeom prst="line">
            <a:avLst/>
          </a:prstGeom>
          <a:noFill/>
          <a:ln w="19050">
            <a:solidFill>
              <a:srgbClr val="8A8A8A"/>
            </a:solidFill>
          </a:ln>
        </p:spPr>
      </p:cxnSp>
      <p:sp>
        <p:nvSpPr>
          <p:cNvPr id="11" name="rect 8"/>
          <p:cNvSpPr/>
          <p:nvPr/>
        </p:nvSpPr>
        <p:spPr>
          <a:xfrm>
            <a:off x="10083800" y="2794000"/>
            <a:ext cx="152400" cy="127000"/>
          </a:xfrm>
          <a:custGeom>
            <a:avLst/>
            <a:gdLst/>
            <a:ahLst/>
            <a:cxnLst/>
            <a:rect l="0" t="0" r="0" b="0"/>
            <a:pathLst>
              <a:path w="12" h="10">
                <a:moveTo>
                  <a:pt x="12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8A8A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9"/>
          <p:cNvSpPr/>
          <p:nvPr/>
        </p:nvSpPr>
        <p:spPr>
          <a:xfrm>
            <a:off x="4889500" y="2673350"/>
            <a:ext cx="2540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zh-CN" sz="1200" dirty="0">
                <a:solidFill>
                  <a:srgbClr val="A6392E"/>
                </a:solidFill>
                <a:latin typeface="Noto Serif SC"/>
                <a:ea typeface="serif"/>
              </a:rPr>
              <a:t>李徵在这一段上，被一点点拉向右端</a:t>
            </a:r>
          </a:p>
        </p:txBody>
      </p:sp>
      <p:sp>
        <p:nvSpPr>
          <p:cNvPr id="13" name="rect 10"/>
          <p:cNvSpPr/>
          <p:nvPr/>
        </p:nvSpPr>
        <p:spPr>
          <a:xfrm>
            <a:off x="812800" y="3403600"/>
            <a:ext cx="3251200" cy="16256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 11"/>
          <p:cNvSpPr/>
          <p:nvPr/>
        </p:nvSpPr>
        <p:spPr>
          <a:xfrm>
            <a:off x="1066800" y="3543300"/>
            <a:ext cx="1790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外貌已兽 · 人性未泯</a:t>
            </a:r>
          </a:p>
        </p:txBody>
      </p:sp>
      <p:sp>
        <p:nvSpPr>
          <p:cNvPr id="15" name="rect 12"/>
          <p:cNvSpPr/>
          <p:nvPr/>
        </p:nvSpPr>
        <p:spPr>
          <a:xfrm>
            <a:off x="1066800" y="3898900"/>
            <a:ext cx="1752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他反复强调，自己心中</a:t>
            </a:r>
          </a:p>
        </p:txBody>
      </p:sp>
      <p:sp>
        <p:nvSpPr>
          <p:cNvPr id="16" name="rect 13"/>
          <p:cNvSpPr/>
          <p:nvPr/>
        </p:nvSpPr>
        <p:spPr>
          <a:xfrm>
            <a:off x="1066800" y="4165600"/>
            <a:ext cx="1587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还留着人性，可外貌</a:t>
            </a:r>
          </a:p>
        </p:txBody>
      </p:sp>
      <p:sp>
        <p:nvSpPr>
          <p:cNvPr id="17" name="rect 14"/>
          <p:cNvSpPr/>
          <p:nvPr/>
        </p:nvSpPr>
        <p:spPr>
          <a:xfrm>
            <a:off x="1066800" y="4432300"/>
            <a:ext cx="927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已经是虎。</a:t>
            </a:r>
          </a:p>
        </p:txBody>
      </p:sp>
      <p:sp>
        <p:nvSpPr>
          <p:cNvPr id="18" name="rect 15"/>
          <p:cNvSpPr/>
          <p:nvPr/>
        </p:nvSpPr>
        <p:spPr>
          <a:xfrm>
            <a:off x="4470400" y="3403600"/>
            <a:ext cx="3251200" cy="16256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6"/>
          <p:cNvSpPr/>
          <p:nvPr/>
        </p:nvSpPr>
        <p:spPr>
          <a:xfrm>
            <a:off x="4724400" y="3543300"/>
            <a:ext cx="1435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精妙的自我解剖</a:t>
            </a:r>
          </a:p>
        </p:txBody>
      </p:sp>
      <p:sp>
        <p:nvSpPr>
          <p:cNvPr id="20" name="rect 17"/>
          <p:cNvSpPr/>
          <p:nvPr/>
        </p:nvSpPr>
        <p:spPr>
          <a:xfrm>
            <a:off x="4724400" y="3898900"/>
            <a:ext cx="208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作者不写「变虎」的奇观，</a:t>
            </a:r>
          </a:p>
        </p:txBody>
      </p:sp>
      <p:sp>
        <p:nvSpPr>
          <p:cNvPr id="21" name="rect 18"/>
          <p:cNvSpPr/>
          <p:nvPr/>
        </p:nvSpPr>
        <p:spPr>
          <a:xfrm>
            <a:off x="4724400" y="4165600"/>
            <a:ext cx="208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而写野心与自尊的撕扯下，</a:t>
            </a:r>
          </a:p>
        </p:txBody>
      </p:sp>
      <p:sp>
        <p:nvSpPr>
          <p:cNvPr id="22" name="rect 19"/>
          <p:cNvSpPr/>
          <p:nvPr/>
        </p:nvSpPr>
        <p:spPr>
          <a:xfrm>
            <a:off x="4724400" y="4432300"/>
            <a:ext cx="1587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一个人的渐变过程。</a:t>
            </a:r>
          </a:p>
        </p:txBody>
      </p:sp>
      <p:sp>
        <p:nvSpPr>
          <p:cNvPr id="23" name="rect 20"/>
          <p:cNvSpPr/>
          <p:nvPr/>
        </p:nvSpPr>
        <p:spPr>
          <a:xfrm>
            <a:off x="8128000" y="3403600"/>
            <a:ext cx="3251200" cy="16256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21"/>
          <p:cNvSpPr/>
          <p:nvPr/>
        </p:nvSpPr>
        <p:spPr>
          <a:xfrm>
            <a:off x="8382000" y="3543300"/>
            <a:ext cx="86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象征内核</a:t>
            </a:r>
          </a:p>
        </p:txBody>
      </p:sp>
      <p:sp>
        <p:nvSpPr>
          <p:cNvPr id="25" name="rect 22"/>
          <p:cNvSpPr/>
          <p:nvPr/>
        </p:nvSpPr>
        <p:spPr>
          <a:xfrm>
            <a:off x="8382000" y="3898900"/>
            <a:ext cx="1917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 dirty="0">
                <a:solidFill>
                  <a:srgbClr val="555555"/>
                </a:solidFill>
                <a:latin typeface="Noto Serif SC"/>
                <a:ea typeface="serif"/>
              </a:rPr>
              <a:t>变虎实质上象征了普通人</a:t>
            </a:r>
          </a:p>
        </p:txBody>
      </p:sp>
      <p:sp>
        <p:nvSpPr>
          <p:cNvPr id="26" name="rect 23"/>
          <p:cNvSpPr/>
          <p:nvPr/>
        </p:nvSpPr>
        <p:spPr>
          <a:xfrm>
            <a:off x="8382000" y="4165600"/>
            <a:ext cx="1422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身上，耻感与自尊</a:t>
            </a:r>
          </a:p>
        </p:txBody>
      </p:sp>
      <p:sp>
        <p:nvSpPr>
          <p:cNvPr id="27" name="rect 24"/>
          <p:cNvSpPr/>
          <p:nvPr/>
        </p:nvSpPr>
        <p:spPr>
          <a:xfrm>
            <a:off x="8382000" y="44323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的冲突。</a:t>
            </a:r>
          </a:p>
        </p:txBody>
      </p:sp>
      <p:sp>
        <p:nvSpPr>
          <p:cNvPr id="28" name="rect 25"/>
          <p:cNvSpPr/>
          <p:nvPr/>
        </p:nvSpPr>
        <p:spPr>
          <a:xfrm>
            <a:off x="812800" y="5346700"/>
            <a:ext cx="8648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于李徵而言，这头虎是怯懦，是傲慢，是虚荣，是不肯落地的清高——它不是外来的怪物，是从他自己心里长出来的。</a:t>
            </a:r>
          </a:p>
        </p:txBody>
      </p:sp>
      <p:sp>
        <p:nvSpPr>
          <p:cNvPr id="30" name="rect 27"/>
          <p:cNvSpPr/>
          <p:nvPr/>
        </p:nvSpPr>
        <p:spPr>
          <a:xfrm>
            <a:off x="11125200" y="6540500"/>
            <a:ext cx="2540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22300"/>
            <a:ext cx="57531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3000" b="1">
                <a:solidFill>
                  <a:srgbClr val="1F1F1F"/>
                </a:solidFill>
                <a:latin typeface="Noto Serif SC"/>
                <a:ea typeface="serif"/>
              </a:rPr>
              <a:t>手法三 · 汉文格调与「山月」意象</a:t>
            </a:r>
          </a:p>
        </p:txBody>
      </p:sp>
      <p:sp>
        <p:nvSpPr>
          <p:cNvPr id="4" name="rect 3"/>
          <p:cNvSpPr/>
          <p:nvPr/>
        </p:nvSpPr>
        <p:spPr>
          <a:xfrm>
            <a:off x="812800" y="1257300"/>
            <a:ext cx="3149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A6392E"/>
                </a:solidFill>
                <a:latin typeface="Noto Serif SC"/>
                <a:ea typeface="serif"/>
              </a:rPr>
              <a:t>简淡的文字，为什么反而更有力量？</a:t>
            </a:r>
          </a:p>
        </p:txBody>
      </p:sp>
      <p:cxnSp>
        <p:nvCxnSpPr>
          <p:cNvPr id="5" name="line 1"/>
          <p:cNvCxnSpPr/>
          <p:nvPr/>
        </p:nvCxnSpPr>
        <p:spPr>
          <a:xfrm>
            <a:off x="812800" y="1746250"/>
            <a:ext cx="10566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6" name="rect 4"/>
          <p:cNvSpPr/>
          <p:nvPr/>
        </p:nvSpPr>
        <p:spPr>
          <a:xfrm>
            <a:off x="812800" y="2120900"/>
            <a:ext cx="673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汉文体</a:t>
            </a:r>
          </a:p>
        </p:txBody>
      </p:sp>
      <p:sp>
        <p:nvSpPr>
          <p:cNvPr id="7" name="rect 5"/>
          <p:cNvSpPr/>
          <p:nvPr/>
        </p:nvSpPr>
        <p:spPr>
          <a:xfrm>
            <a:off x="2159000" y="2146300"/>
            <a:ext cx="3403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中岛敦汉学功底极深，小说语言简淡、克制，</a:t>
            </a:r>
          </a:p>
        </p:txBody>
      </p:sp>
      <p:sp>
        <p:nvSpPr>
          <p:cNvPr id="8" name="rect 6"/>
          <p:cNvSpPr/>
          <p:nvPr/>
        </p:nvSpPr>
        <p:spPr>
          <a:xfrm>
            <a:off x="2159000" y="2413000"/>
            <a:ext cx="1752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几乎不用华丽的修饰。</a:t>
            </a:r>
          </a:p>
        </p:txBody>
      </p:sp>
      <p:sp>
        <p:nvSpPr>
          <p:cNvPr id="9" name="rect 7"/>
          <p:cNvSpPr/>
          <p:nvPr/>
        </p:nvSpPr>
        <p:spPr>
          <a:xfrm>
            <a:off x="812800" y="2933700"/>
            <a:ext cx="86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短句白描</a:t>
            </a:r>
          </a:p>
        </p:txBody>
      </p:sp>
      <p:sp>
        <p:nvSpPr>
          <p:cNvPr id="10" name="rect 8"/>
          <p:cNvSpPr/>
          <p:nvPr/>
        </p:nvSpPr>
        <p:spPr>
          <a:xfrm>
            <a:off x="2159000" y="2959100"/>
            <a:ext cx="3733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前半大段独白尤其明显，像古典笔记小说的腔调；</a:t>
            </a:r>
          </a:p>
        </p:txBody>
      </p:sp>
      <p:sp>
        <p:nvSpPr>
          <p:cNvPr id="11" name="rect 9"/>
          <p:cNvSpPr/>
          <p:nvPr/>
        </p:nvSpPr>
        <p:spPr>
          <a:xfrm>
            <a:off x="2159000" y="3225800"/>
            <a:ext cx="3403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情绪都压在平静叙述底下，爆发力反而更强。</a:t>
            </a:r>
          </a:p>
        </p:txBody>
      </p:sp>
      <p:sp>
        <p:nvSpPr>
          <p:cNvPr id="12" name="rect 10"/>
          <p:cNvSpPr/>
          <p:nvPr/>
        </p:nvSpPr>
        <p:spPr>
          <a:xfrm>
            <a:off x="812800" y="3746500"/>
            <a:ext cx="86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意象点题</a:t>
            </a:r>
          </a:p>
        </p:txBody>
      </p:sp>
      <p:sp>
        <p:nvSpPr>
          <p:cNvPr id="13" name="rect 11"/>
          <p:cNvSpPr/>
          <p:nvPr/>
        </p:nvSpPr>
        <p:spPr>
          <a:xfrm>
            <a:off x="2159000" y="3771900"/>
            <a:ext cx="2959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「山月」这个意象本身——冷、空、远，</a:t>
            </a:r>
          </a:p>
        </p:txBody>
      </p:sp>
      <p:sp>
        <p:nvSpPr>
          <p:cNvPr id="14" name="rect 12"/>
          <p:cNvSpPr/>
          <p:nvPr/>
        </p:nvSpPr>
        <p:spPr>
          <a:xfrm>
            <a:off x="2159000" y="4038600"/>
            <a:ext cx="3733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恰好对应着李徵，也对应每一份不被理解的孤绝。</a:t>
            </a:r>
          </a:p>
        </p:txBody>
      </p:sp>
      <p:cxnSp>
        <p:nvCxnSpPr>
          <p:cNvPr id="15" name="line 2"/>
          <p:cNvCxnSpPr/>
          <p:nvPr/>
        </p:nvCxnSpPr>
        <p:spPr>
          <a:xfrm>
            <a:off x="812800" y="4641850"/>
            <a:ext cx="5156200" cy="12700"/>
          </a:xfrm>
          <a:prstGeom prst="line">
            <a:avLst/>
          </a:prstGeom>
          <a:noFill/>
          <a:ln w="12700">
            <a:solidFill>
              <a:srgbClr val="EFEBE4"/>
            </a:solidFill>
          </a:ln>
        </p:spPr>
      </p:cxnSp>
      <p:sp>
        <p:nvSpPr>
          <p:cNvPr id="16" name="rect 13"/>
          <p:cNvSpPr/>
          <p:nvPr/>
        </p:nvSpPr>
        <p:spPr>
          <a:xfrm>
            <a:off x="812800" y="4914900"/>
            <a:ext cx="3060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</a:pPr>
            <a:r>
              <a:rPr lang="zh-CN" sz="1500">
                <a:solidFill>
                  <a:srgbClr val="1F1F1F"/>
                </a:solidFill>
                <a:latin typeface="KaiTi"/>
                <a:ea typeface="KaiTi"/>
              </a:rPr>
              <a:t>「深怕并非美玉，故不敢刻苦琢磨；</a:t>
            </a:r>
          </a:p>
        </p:txBody>
      </p:sp>
      <p:sp>
        <p:nvSpPr>
          <p:cNvPr id="17" name="rect 14"/>
          <p:cNvSpPr/>
          <p:nvPr/>
        </p:nvSpPr>
        <p:spPr>
          <a:xfrm>
            <a:off x="812800" y="5245100"/>
            <a:ext cx="3441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</a:pPr>
            <a:r>
              <a:rPr lang="zh-CN" sz="1500">
                <a:solidFill>
                  <a:srgbClr val="1F1F1F"/>
                </a:solidFill>
                <a:latin typeface="KaiTi"/>
                <a:ea typeface="KaiTi"/>
              </a:rPr>
              <a:t>　又半信是美玉，故不肯与瓦砾为伍。」</a:t>
            </a:r>
          </a:p>
        </p:txBody>
      </p:sp>
      <p:pic>
        <p:nvPicPr>
          <p:cNvPr id="19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2082800"/>
            <a:ext cx="4775200" cy="3670300"/>
          </a:xfrm>
          <a:prstGeom prst="rect">
            <a:avLst/>
          </a:prstGeom>
        </p:spPr>
      </p:pic>
      <p:sp>
        <p:nvSpPr>
          <p:cNvPr id="20" name="rect 16"/>
          <p:cNvSpPr/>
          <p:nvPr/>
        </p:nvSpPr>
        <p:spPr>
          <a:xfrm>
            <a:off x="6604000" y="5880100"/>
            <a:ext cx="18923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</a:pPr>
            <a:r>
              <a:rPr lang="zh-CN" sz="1100">
                <a:solidFill>
                  <a:srgbClr val="B8B4AC"/>
                </a:solidFill>
                <a:latin typeface="Noto Serif SC"/>
                <a:ea typeface="serif"/>
              </a:rPr>
              <a:t>高其佩 · 竹月（冷、空、远）</a:t>
            </a:r>
          </a:p>
        </p:txBody>
      </p:sp>
      <p:sp>
        <p:nvSpPr>
          <p:cNvPr id="22" name="rect 18"/>
          <p:cNvSpPr/>
          <p:nvPr/>
        </p:nvSpPr>
        <p:spPr>
          <a:xfrm>
            <a:off x="11125200" y="6540500"/>
            <a:ext cx="2540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22300"/>
            <a:ext cx="38481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3000" b="1">
                <a:solidFill>
                  <a:srgbClr val="1F1F1F"/>
                </a:solidFill>
                <a:latin typeface="Noto Serif SC"/>
                <a:ea typeface="serif"/>
              </a:rPr>
              <a:t>手法四 · 元小说的自觉</a:t>
            </a:r>
          </a:p>
        </p:txBody>
      </p:sp>
      <p:sp>
        <p:nvSpPr>
          <p:cNvPr id="4" name="rect 3"/>
          <p:cNvSpPr/>
          <p:nvPr/>
        </p:nvSpPr>
        <p:spPr>
          <a:xfrm>
            <a:off x="812800" y="1257300"/>
            <a:ext cx="467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A6392E"/>
                </a:solidFill>
                <a:latin typeface="Noto Serif SC"/>
                <a:ea typeface="serif"/>
              </a:rPr>
              <a:t>把「文学」写进志怪：人活一世，到底什么才能留下？</a:t>
            </a:r>
          </a:p>
        </p:txBody>
      </p:sp>
      <p:cxnSp>
        <p:nvCxnSpPr>
          <p:cNvPr id="5" name="line 1"/>
          <p:cNvCxnSpPr/>
          <p:nvPr/>
        </p:nvCxnSpPr>
        <p:spPr>
          <a:xfrm>
            <a:off x="812800" y="1746250"/>
            <a:ext cx="10566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6" name="rect 4"/>
          <p:cNvSpPr/>
          <p:nvPr/>
        </p:nvSpPr>
        <p:spPr>
          <a:xfrm>
            <a:off x="812800" y="2108200"/>
            <a:ext cx="4826000" cy="13716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117600" y="2298700"/>
            <a:ext cx="1409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其一 · 诗稿传世</a:t>
            </a:r>
          </a:p>
        </p:txBody>
      </p:sp>
      <p:sp>
        <p:nvSpPr>
          <p:cNvPr id="8" name="rect 6"/>
          <p:cNvSpPr/>
          <p:nvPr/>
        </p:nvSpPr>
        <p:spPr>
          <a:xfrm>
            <a:off x="1117600" y="2679700"/>
            <a:ext cx="2908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老虎拜托袁傪：替我把诗稿整理出来，</a:t>
            </a:r>
          </a:p>
        </p:txBody>
      </p:sp>
      <p:sp>
        <p:nvSpPr>
          <p:cNvPr id="9" name="rect 7"/>
          <p:cNvSpPr/>
          <p:nvPr/>
        </p:nvSpPr>
        <p:spPr>
          <a:xfrm>
            <a:off x="1117600" y="2946400"/>
            <a:ext cx="1587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让这些诗能够传世。</a:t>
            </a:r>
          </a:p>
        </p:txBody>
      </p:sp>
      <p:sp>
        <p:nvSpPr>
          <p:cNvPr id="10" name="rect 8"/>
          <p:cNvSpPr/>
          <p:nvPr/>
        </p:nvSpPr>
        <p:spPr>
          <a:xfrm>
            <a:off x="6553200" y="2108200"/>
            <a:ext cx="4826000" cy="13716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9"/>
          <p:cNvSpPr/>
          <p:nvPr/>
        </p:nvSpPr>
        <p:spPr>
          <a:xfrm>
            <a:off x="6858000" y="2298700"/>
            <a:ext cx="1409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其二 · 隐瞒化虎</a:t>
            </a:r>
          </a:p>
        </p:txBody>
      </p:sp>
      <p:sp>
        <p:nvSpPr>
          <p:cNvPr id="12" name="rect 10"/>
          <p:cNvSpPr/>
          <p:nvPr/>
        </p:nvSpPr>
        <p:spPr>
          <a:xfrm>
            <a:off x="6858000" y="2679700"/>
            <a:ext cx="2209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还有——别让老朋友们知道，</a:t>
            </a:r>
          </a:p>
        </p:txBody>
      </p:sp>
      <p:sp>
        <p:nvSpPr>
          <p:cNvPr id="13" name="rect 11"/>
          <p:cNvSpPr/>
          <p:nvPr/>
        </p:nvSpPr>
        <p:spPr>
          <a:xfrm>
            <a:off x="6858000" y="2946400"/>
            <a:ext cx="1587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我已经变成了老虎。</a:t>
            </a:r>
          </a:p>
        </p:txBody>
      </p:sp>
      <p:sp>
        <p:nvSpPr>
          <p:cNvPr id="14" name="rect 12"/>
          <p:cNvSpPr/>
          <p:nvPr/>
        </p:nvSpPr>
        <p:spPr>
          <a:xfrm>
            <a:off x="812800" y="3727450"/>
            <a:ext cx="3556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</a:pPr>
            <a:r>
              <a:rPr lang="zh-CN" sz="1600" dirty="0">
                <a:solidFill>
                  <a:srgbClr val="1F1F1F"/>
                </a:solidFill>
                <a:latin typeface="KaiTi"/>
                <a:ea typeface="KaiTi"/>
              </a:rPr>
              <a:t>「唉，连我自己都觉得自己好虚荣啊。」</a:t>
            </a:r>
          </a:p>
        </p:txBody>
      </p:sp>
      <p:sp>
        <p:nvSpPr>
          <p:cNvPr id="15" name="rect 13"/>
          <p:cNvSpPr/>
          <p:nvPr/>
        </p:nvSpPr>
        <p:spPr>
          <a:xfrm>
            <a:off x="812800" y="4178300"/>
            <a:ext cx="6502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一边是对作品传世的渴望，一边是对自己狼狈形貌的羞耻——既高兴，又为高兴而羞愧。</a:t>
            </a:r>
          </a:p>
        </p:txBody>
      </p:sp>
      <p:sp>
        <p:nvSpPr>
          <p:cNvPr id="16" name="rect 14"/>
          <p:cNvSpPr/>
          <p:nvPr/>
        </p:nvSpPr>
        <p:spPr>
          <a:xfrm>
            <a:off x="812800" y="4673600"/>
            <a:ext cx="105664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39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5"/>
          <p:cNvSpPr/>
          <p:nvPr/>
        </p:nvSpPr>
        <p:spPr>
          <a:xfrm>
            <a:off x="4044950" y="4813300"/>
            <a:ext cx="4102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500" b="1">
                <a:solidFill>
                  <a:srgbClr val="1F1F1F"/>
                </a:solidFill>
                <a:latin typeface="Noto Serif SC"/>
                <a:ea typeface="serif"/>
              </a:rPr>
              <a:t>一篇志怪小说，由此触碰到了文学本身的命题：</a:t>
            </a:r>
          </a:p>
        </p:txBody>
      </p:sp>
      <p:sp>
        <p:nvSpPr>
          <p:cNvPr id="18" name="rect 16"/>
          <p:cNvSpPr/>
          <p:nvPr/>
        </p:nvSpPr>
        <p:spPr>
          <a:xfrm>
            <a:off x="4248150" y="5143500"/>
            <a:ext cx="3695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作品、作者、名声——什么才是真正能留下来的？</a:t>
            </a:r>
          </a:p>
        </p:txBody>
      </p:sp>
      <p:pic>
        <p:nvPicPr>
          <p:cNvPr id="19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5689600"/>
            <a:ext cx="8890000" cy="508000"/>
          </a:xfrm>
          <a:prstGeom prst="rect">
            <a:avLst/>
          </a:prstGeom>
        </p:spPr>
      </p:pic>
      <p:sp>
        <p:nvSpPr>
          <p:cNvPr id="20" name="rect 17"/>
          <p:cNvSpPr/>
          <p:nvPr/>
        </p:nvSpPr>
        <p:spPr>
          <a:xfrm>
            <a:off x="9906000" y="6007100"/>
            <a:ext cx="14732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</a:pPr>
            <a:r>
              <a:rPr lang="zh-CN" sz="1100" dirty="0">
                <a:solidFill>
                  <a:srgbClr val="B8B4AC"/>
                </a:solidFill>
                <a:latin typeface="Noto Serif SC"/>
                <a:ea typeface="serif"/>
              </a:rPr>
              <a:t>苏轼《寒食帖》 · 诗稿</a:t>
            </a:r>
          </a:p>
        </p:txBody>
      </p:sp>
      <p:sp>
        <p:nvSpPr>
          <p:cNvPr id="22" name="rect 19"/>
          <p:cNvSpPr/>
          <p:nvPr/>
        </p:nvSpPr>
        <p:spPr>
          <a:xfrm>
            <a:off x="11125200" y="6540500"/>
            <a:ext cx="2540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22300"/>
            <a:ext cx="38481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3000" b="1">
                <a:solidFill>
                  <a:srgbClr val="1F1F1F"/>
                </a:solidFill>
                <a:latin typeface="Noto Serif SC"/>
                <a:ea typeface="serif"/>
              </a:rPr>
              <a:t>人物解读 · 李徵的困境</a:t>
            </a:r>
          </a:p>
        </p:txBody>
      </p:sp>
      <p:sp>
        <p:nvSpPr>
          <p:cNvPr id="4" name="rect 3"/>
          <p:cNvSpPr/>
          <p:nvPr/>
        </p:nvSpPr>
        <p:spPr>
          <a:xfrm>
            <a:off x="812800" y="1257300"/>
            <a:ext cx="2959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A6392E"/>
                </a:solidFill>
                <a:latin typeface="Noto Serif SC"/>
                <a:ea typeface="serif"/>
              </a:rPr>
              <a:t>到底是怀才不遇，还是眼高手低？</a:t>
            </a:r>
          </a:p>
        </p:txBody>
      </p:sp>
      <p:cxnSp>
        <p:nvCxnSpPr>
          <p:cNvPr id="5" name="line 1"/>
          <p:cNvCxnSpPr/>
          <p:nvPr/>
        </p:nvCxnSpPr>
        <p:spPr>
          <a:xfrm>
            <a:off x="812800" y="1746250"/>
            <a:ext cx="10566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6" name="rect 4"/>
          <p:cNvSpPr/>
          <p:nvPr/>
        </p:nvSpPr>
        <p:spPr>
          <a:xfrm>
            <a:off x="812800" y="2006600"/>
            <a:ext cx="10566400" cy="6604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117600" y="2082800"/>
            <a:ext cx="1854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 b="1">
                <a:solidFill>
                  <a:srgbClr val="A6392E"/>
                </a:solidFill>
                <a:latin typeface="Noto Serif SC"/>
                <a:ea typeface="serif"/>
              </a:rPr>
              <a:t>人物底色 · 孤傲与自负</a:t>
            </a:r>
          </a:p>
        </p:txBody>
      </p:sp>
      <p:sp>
        <p:nvSpPr>
          <p:cNvPr id="8" name="rect 6"/>
          <p:cNvSpPr/>
          <p:nvPr/>
        </p:nvSpPr>
        <p:spPr>
          <a:xfrm>
            <a:off x="1117600" y="2349500"/>
            <a:ext cx="5715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年少成名，自带文人清高；鄙夷官场逢迎、世俗庸碌，一心追求以诗文传世。</a:t>
            </a:r>
          </a:p>
        </p:txBody>
      </p:sp>
      <p:sp>
        <p:nvSpPr>
          <p:cNvPr id="9" name="rect 7"/>
          <p:cNvSpPr/>
          <p:nvPr/>
        </p:nvSpPr>
        <p:spPr>
          <a:xfrm>
            <a:off x="812800" y="2895600"/>
            <a:ext cx="51308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8"/>
          <p:cNvSpPr/>
          <p:nvPr/>
        </p:nvSpPr>
        <p:spPr>
          <a:xfrm>
            <a:off x="1117600" y="3086100"/>
            <a:ext cx="1054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1F1F1F"/>
                </a:solidFill>
                <a:latin typeface="Noto Serif SC"/>
                <a:ea typeface="serif"/>
              </a:rPr>
              <a:t>自负的枷锁</a:t>
            </a:r>
          </a:p>
        </p:txBody>
      </p:sp>
      <p:sp>
        <p:nvSpPr>
          <p:cNvPr id="11" name="rect 9"/>
          <p:cNvSpPr/>
          <p:nvPr/>
        </p:nvSpPr>
        <p:spPr>
          <a:xfrm>
            <a:off x="1117600" y="3467100"/>
            <a:ext cx="3403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自认天赋异禀，不屑平庸，也不屑刻意勤学；</a:t>
            </a:r>
          </a:p>
        </p:txBody>
      </p:sp>
      <p:sp>
        <p:nvSpPr>
          <p:cNvPr id="12" name="rect 10"/>
          <p:cNvSpPr/>
          <p:nvPr/>
        </p:nvSpPr>
        <p:spPr>
          <a:xfrm>
            <a:off x="1117600" y="3733800"/>
            <a:ext cx="3530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不愿与世人切磋求教——怕努力之后依旧平庸，</a:t>
            </a:r>
          </a:p>
        </p:txBody>
      </p:sp>
      <p:sp>
        <p:nvSpPr>
          <p:cNvPr id="13" name="rect 11"/>
          <p:cNvSpPr/>
          <p:nvPr/>
        </p:nvSpPr>
        <p:spPr>
          <a:xfrm>
            <a:off x="1117600" y="4000500"/>
            <a:ext cx="1752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暴露自己的才华短板。</a:t>
            </a:r>
          </a:p>
        </p:txBody>
      </p:sp>
      <p:sp>
        <p:nvSpPr>
          <p:cNvPr id="14" name="rect 12"/>
          <p:cNvSpPr/>
          <p:nvPr/>
        </p:nvSpPr>
        <p:spPr>
          <a:xfrm>
            <a:off x="6248400" y="2895600"/>
            <a:ext cx="51308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13"/>
          <p:cNvSpPr/>
          <p:nvPr/>
        </p:nvSpPr>
        <p:spPr>
          <a:xfrm>
            <a:off x="6553200" y="3086100"/>
            <a:ext cx="1054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1F1F1F"/>
                </a:solidFill>
                <a:latin typeface="Noto Serif SC"/>
                <a:ea typeface="serif"/>
              </a:rPr>
              <a:t>自卑的怯懦</a:t>
            </a:r>
          </a:p>
        </p:txBody>
      </p:sp>
      <p:sp>
        <p:nvSpPr>
          <p:cNvPr id="16" name="rect 14"/>
          <p:cNvSpPr/>
          <p:nvPr/>
        </p:nvSpPr>
        <p:spPr>
          <a:xfrm>
            <a:off x="6553200" y="3467100"/>
            <a:ext cx="3568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极度畏惧失败，不敢潜心打磨诗文、深耕理想；</a:t>
            </a:r>
          </a:p>
        </p:txBody>
      </p:sp>
      <p:sp>
        <p:nvSpPr>
          <p:cNvPr id="17" name="rect 15"/>
          <p:cNvSpPr/>
          <p:nvPr/>
        </p:nvSpPr>
        <p:spPr>
          <a:xfrm>
            <a:off x="6553200" y="3733800"/>
            <a:ext cx="274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用孤傲伪装内心的惶恐，用清高逃避</a:t>
            </a:r>
          </a:p>
        </p:txBody>
      </p:sp>
      <p:sp>
        <p:nvSpPr>
          <p:cNvPr id="18" name="rect 16"/>
          <p:cNvSpPr/>
          <p:nvPr/>
        </p:nvSpPr>
        <p:spPr>
          <a:xfrm>
            <a:off x="6553200" y="4000500"/>
            <a:ext cx="208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努力的艰辛与未知的挫败。</a:t>
            </a:r>
          </a:p>
        </p:txBody>
      </p:sp>
      <p:pic>
        <p:nvPicPr>
          <p:cNvPr id="19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851400"/>
            <a:ext cx="1524000" cy="1549400"/>
          </a:xfrm>
          <a:prstGeom prst="rect">
            <a:avLst/>
          </a:prstGeom>
        </p:spPr>
      </p:pic>
      <p:sp>
        <p:nvSpPr>
          <p:cNvPr id="20" name="rect 17"/>
          <p:cNvSpPr/>
          <p:nvPr/>
        </p:nvSpPr>
        <p:spPr>
          <a:xfrm>
            <a:off x="2692400" y="5003800"/>
            <a:ext cx="990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 b="1">
                <a:solidFill>
                  <a:srgbClr val="A6392E"/>
                </a:solidFill>
                <a:latin typeface="Noto Serif SC"/>
                <a:ea typeface="serif"/>
              </a:rPr>
              <a:t>月亮的隐喻</a:t>
            </a:r>
          </a:p>
        </p:txBody>
      </p:sp>
      <p:sp>
        <p:nvSpPr>
          <p:cNvPr id="21" name="rect 18"/>
          <p:cNvSpPr/>
          <p:nvPr/>
        </p:nvSpPr>
        <p:spPr>
          <a:xfrm>
            <a:off x="2692400" y="5346700"/>
            <a:ext cx="551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他早已望见月亮的美，便不甘于现实；可才华又不足以支撑他够到月亮——</a:t>
            </a:r>
          </a:p>
        </p:txBody>
      </p:sp>
      <p:sp>
        <p:nvSpPr>
          <p:cNvPr id="22" name="rect 19"/>
          <p:cNvSpPr/>
          <p:nvPr/>
        </p:nvSpPr>
        <p:spPr>
          <a:xfrm>
            <a:off x="2692400" y="5613400"/>
            <a:ext cx="5219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最终两边都不沾：既无法享受生活的乐趣，也到不了心中的艺术理想。</a:t>
            </a:r>
          </a:p>
        </p:txBody>
      </p:sp>
      <p:sp>
        <p:nvSpPr>
          <p:cNvPr id="23" name="rect 20"/>
          <p:cNvSpPr/>
          <p:nvPr/>
        </p:nvSpPr>
        <p:spPr>
          <a:xfrm>
            <a:off x="2692400" y="5956300"/>
            <a:ext cx="2908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8A8A8A"/>
                </a:solidFill>
                <a:latin typeface="Noto Serif SC"/>
                <a:ea typeface="serif"/>
              </a:rPr>
              <a:t>困住他的，从来不是世俗，是他自己。</a:t>
            </a:r>
          </a:p>
        </p:txBody>
      </p:sp>
      <p:sp>
        <p:nvSpPr>
          <p:cNvPr id="25" name="rect 22"/>
          <p:cNvSpPr/>
          <p:nvPr/>
        </p:nvSpPr>
        <p:spPr>
          <a:xfrm>
            <a:off x="11137900" y="6540500"/>
            <a:ext cx="2413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22300"/>
            <a:ext cx="42291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3000" b="1">
                <a:solidFill>
                  <a:srgbClr val="1F1F1F"/>
                </a:solidFill>
                <a:latin typeface="Noto Serif SC"/>
                <a:ea typeface="serif"/>
              </a:rPr>
              <a:t>观照自我 · 照镜子的时刻</a:t>
            </a:r>
          </a:p>
        </p:txBody>
      </p:sp>
      <p:sp>
        <p:nvSpPr>
          <p:cNvPr id="4" name="rect 3"/>
          <p:cNvSpPr/>
          <p:nvPr/>
        </p:nvSpPr>
        <p:spPr>
          <a:xfrm>
            <a:off x="812800" y="1257300"/>
            <a:ext cx="3340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A6392E"/>
                </a:solidFill>
                <a:latin typeface="Noto Serif SC"/>
                <a:ea typeface="serif"/>
              </a:rPr>
              <a:t>我们为什么在李徵身上，看到了自己？</a:t>
            </a:r>
          </a:p>
        </p:txBody>
      </p:sp>
      <p:cxnSp>
        <p:nvCxnSpPr>
          <p:cNvPr id="5" name="line 1"/>
          <p:cNvCxnSpPr/>
          <p:nvPr/>
        </p:nvCxnSpPr>
        <p:spPr>
          <a:xfrm>
            <a:off x="812800" y="1746250"/>
            <a:ext cx="10566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6" name="rect 4"/>
          <p:cNvSpPr/>
          <p:nvPr/>
        </p:nvSpPr>
        <p:spPr>
          <a:xfrm>
            <a:off x="812800" y="2159000"/>
            <a:ext cx="711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</a:pPr>
            <a:r>
              <a:rPr lang="zh-CN" sz="1600" b="1">
                <a:solidFill>
                  <a:srgbClr val="1F1F1F"/>
                </a:solidFill>
                <a:latin typeface="Noto Serif SC"/>
                <a:ea typeface="serif"/>
              </a:rPr>
              <a:t>想努力</a:t>
            </a:r>
          </a:p>
        </p:txBody>
      </p:sp>
      <p:sp>
        <p:nvSpPr>
          <p:cNvPr id="7" name="rect 5"/>
          <p:cNvSpPr/>
          <p:nvPr/>
        </p:nvSpPr>
        <p:spPr>
          <a:xfrm>
            <a:off x="2286000" y="2184400"/>
            <a:ext cx="6108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555555"/>
                </a:solidFill>
                <a:latin typeface="Noto Serif SC"/>
                <a:ea typeface="serif"/>
              </a:rPr>
              <a:t>又怕努力之后，才发现自己资质平平——连「我尽力了」这个台阶都留不下。</a:t>
            </a:r>
          </a:p>
        </p:txBody>
      </p:sp>
      <p:cxnSp>
        <p:nvCxnSpPr>
          <p:cNvPr id="8" name="line 2"/>
          <p:cNvCxnSpPr/>
          <p:nvPr/>
        </p:nvCxnSpPr>
        <p:spPr>
          <a:xfrm>
            <a:off x="812800" y="2686050"/>
            <a:ext cx="10566400" cy="12700"/>
          </a:xfrm>
          <a:prstGeom prst="line">
            <a:avLst/>
          </a:prstGeom>
          <a:noFill/>
          <a:ln w="12700">
            <a:solidFill>
              <a:srgbClr val="EFEBE4"/>
            </a:solidFill>
          </a:ln>
        </p:spPr>
      </p:cxnSp>
      <p:sp>
        <p:nvSpPr>
          <p:cNvPr id="9" name="rect 6"/>
          <p:cNvSpPr/>
          <p:nvPr/>
        </p:nvSpPr>
        <p:spPr>
          <a:xfrm>
            <a:off x="812800" y="2971800"/>
            <a:ext cx="914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</a:pPr>
            <a:r>
              <a:rPr lang="zh-CN" sz="1600" b="1">
                <a:solidFill>
                  <a:srgbClr val="1F1F1F"/>
                </a:solidFill>
                <a:latin typeface="Noto Serif SC"/>
                <a:ea typeface="serif"/>
              </a:rPr>
              <a:t>想被认可</a:t>
            </a:r>
          </a:p>
        </p:txBody>
      </p:sp>
      <p:sp>
        <p:nvSpPr>
          <p:cNvPr id="10" name="rect 7"/>
          <p:cNvSpPr/>
          <p:nvPr/>
        </p:nvSpPr>
        <p:spPr>
          <a:xfrm>
            <a:off x="2286000" y="2997200"/>
            <a:ext cx="6642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555555"/>
                </a:solidFill>
                <a:latin typeface="Noto Serif SC"/>
                <a:ea typeface="serif"/>
              </a:rPr>
              <a:t>又为这份渴望感到难为情——像李徵那样，一边割舍不下，一边为割舍不下而难堪。</a:t>
            </a:r>
          </a:p>
        </p:txBody>
      </p:sp>
      <p:cxnSp>
        <p:nvCxnSpPr>
          <p:cNvPr id="11" name="line 3"/>
          <p:cNvCxnSpPr/>
          <p:nvPr/>
        </p:nvCxnSpPr>
        <p:spPr>
          <a:xfrm>
            <a:off x="812800" y="3498850"/>
            <a:ext cx="10566400" cy="12700"/>
          </a:xfrm>
          <a:prstGeom prst="line">
            <a:avLst/>
          </a:prstGeom>
          <a:noFill/>
          <a:ln w="12700">
            <a:solidFill>
              <a:srgbClr val="EFEBE4"/>
            </a:solidFill>
          </a:ln>
        </p:spPr>
      </p:cxnSp>
      <p:sp>
        <p:nvSpPr>
          <p:cNvPr id="12" name="rect 8"/>
          <p:cNvSpPr/>
          <p:nvPr/>
        </p:nvSpPr>
        <p:spPr>
          <a:xfrm>
            <a:off x="812800" y="3784600"/>
            <a:ext cx="914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</a:pPr>
            <a:r>
              <a:rPr lang="zh-CN" sz="1600" b="1">
                <a:solidFill>
                  <a:srgbClr val="1F1F1F"/>
                </a:solidFill>
                <a:latin typeface="Noto Serif SC"/>
                <a:ea typeface="serif"/>
              </a:rPr>
              <a:t>读完之后</a:t>
            </a:r>
          </a:p>
        </p:txBody>
      </p:sp>
      <p:sp>
        <p:nvSpPr>
          <p:cNvPr id="13" name="rect 9"/>
          <p:cNvSpPr/>
          <p:nvPr/>
        </p:nvSpPr>
        <p:spPr>
          <a:xfrm>
            <a:off x="2286000" y="3810000"/>
            <a:ext cx="699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</a:pPr>
            <a:r>
              <a:rPr lang="zh-CN" sz="1400">
                <a:solidFill>
                  <a:srgbClr val="555555"/>
                </a:solidFill>
                <a:latin typeface="Noto Serif SC"/>
                <a:ea typeface="serif"/>
              </a:rPr>
              <a:t>心里堵了好一会儿——作者不批判他，只平静地把这一点摆出来，反而更让人无法回避。</a:t>
            </a:r>
          </a:p>
        </p:txBody>
      </p:sp>
      <p:sp>
        <p:nvSpPr>
          <p:cNvPr id="14" name="rect 10"/>
          <p:cNvSpPr/>
          <p:nvPr/>
        </p:nvSpPr>
        <p:spPr>
          <a:xfrm>
            <a:off x="812800" y="4648200"/>
            <a:ext cx="10566400" cy="11176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11"/>
          <p:cNvSpPr/>
          <p:nvPr/>
        </p:nvSpPr>
        <p:spPr>
          <a:xfrm>
            <a:off x="4235450" y="4889500"/>
            <a:ext cx="3721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</a:pPr>
            <a:r>
              <a:rPr lang="zh-CN" sz="1500" b="1">
                <a:solidFill>
                  <a:srgbClr val="1F1F1F"/>
                </a:solidFill>
                <a:latin typeface="Noto Serif SC"/>
                <a:ea typeface="serif"/>
              </a:rPr>
              <a:t>李徵的悲剧看似离奇，细细想来又很日常。</a:t>
            </a:r>
          </a:p>
        </p:txBody>
      </p:sp>
      <p:sp>
        <p:nvSpPr>
          <p:cNvPr id="16" name="rect 12"/>
          <p:cNvSpPr/>
          <p:nvPr/>
        </p:nvSpPr>
        <p:spPr>
          <a:xfrm>
            <a:off x="3486150" y="5270500"/>
            <a:ext cx="5219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可能每个人心里都住着一只虎，也都住在某个自己渐渐陌生的身体里。</a:t>
            </a:r>
          </a:p>
        </p:txBody>
      </p:sp>
      <p:sp>
        <p:nvSpPr>
          <p:cNvPr id="18" name="rect 14"/>
          <p:cNvSpPr/>
          <p:nvPr/>
        </p:nvSpPr>
        <p:spPr>
          <a:xfrm>
            <a:off x="11150600" y="6540500"/>
            <a:ext cx="2286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812800" y="622300"/>
            <a:ext cx="1625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3000" b="1">
                <a:solidFill>
                  <a:srgbClr val="1F1F1F"/>
                </a:solidFill>
                <a:latin typeface="Noto Serif SC"/>
                <a:ea typeface="serif"/>
              </a:rPr>
              <a:t>一点启示</a:t>
            </a:r>
          </a:p>
        </p:txBody>
      </p:sp>
      <p:sp>
        <p:nvSpPr>
          <p:cNvPr id="4" name="rect 3"/>
          <p:cNvSpPr/>
          <p:nvPr/>
        </p:nvSpPr>
        <p:spPr>
          <a:xfrm>
            <a:off x="812800" y="1257300"/>
            <a:ext cx="2387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>
                <a:solidFill>
                  <a:srgbClr val="A6392E"/>
                </a:solidFill>
                <a:latin typeface="Noto Serif SC"/>
                <a:ea typeface="serif"/>
              </a:rPr>
              <a:t>不必先问，自己是不是美玉</a:t>
            </a:r>
          </a:p>
        </p:txBody>
      </p:sp>
      <p:cxnSp>
        <p:nvCxnSpPr>
          <p:cNvPr id="5" name="line 1"/>
          <p:cNvCxnSpPr/>
          <p:nvPr/>
        </p:nvCxnSpPr>
        <p:spPr>
          <a:xfrm>
            <a:off x="812800" y="1746250"/>
            <a:ext cx="10566400" cy="12700"/>
          </a:xfrm>
          <a:prstGeom prst="line">
            <a:avLst/>
          </a:prstGeom>
          <a:noFill/>
          <a:ln w="12700">
            <a:solidFill>
              <a:srgbClr val="E3E0DA"/>
            </a:solidFill>
          </a:ln>
        </p:spPr>
      </p:cxnSp>
      <p:sp>
        <p:nvSpPr>
          <p:cNvPr id="6" name="rect 4"/>
          <p:cNvSpPr/>
          <p:nvPr/>
        </p:nvSpPr>
        <p:spPr>
          <a:xfrm>
            <a:off x="812800" y="2171700"/>
            <a:ext cx="54737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zh-CN" sz="1800">
                <a:solidFill>
                  <a:srgbClr val="1F1F1F"/>
                </a:solidFill>
                <a:latin typeface="KaiTi"/>
                <a:ea typeface="KaiTi"/>
              </a:rPr>
              <a:t>「如果本就喜欢雕琢，那么就闷着头雕琢自己就好了，</a:t>
            </a:r>
          </a:p>
        </p:txBody>
      </p:sp>
      <p:sp>
        <p:nvSpPr>
          <p:cNvPr id="7" name="rect 5"/>
          <p:cNvSpPr/>
          <p:nvPr/>
        </p:nvSpPr>
        <p:spPr>
          <a:xfrm>
            <a:off x="812800" y="2552700"/>
            <a:ext cx="45593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zh-CN" sz="1800">
                <a:solidFill>
                  <a:srgbClr val="1F1F1F"/>
                </a:solidFill>
                <a:latin typeface="KaiTi"/>
                <a:ea typeface="KaiTi"/>
              </a:rPr>
              <a:t>　何必在乎自己有没有成为美玉的潜质呢？」</a:t>
            </a:r>
          </a:p>
        </p:txBody>
      </p:sp>
      <p:sp>
        <p:nvSpPr>
          <p:cNvPr id="8" name="rect 6"/>
          <p:cNvSpPr/>
          <p:nvPr/>
        </p:nvSpPr>
        <p:spPr>
          <a:xfrm>
            <a:off x="812800" y="32385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曲线</a:t>
            </a:r>
          </a:p>
        </p:txBody>
      </p:sp>
      <p:sp>
        <p:nvSpPr>
          <p:cNvPr id="9" name="rect 7"/>
          <p:cNvSpPr/>
          <p:nvPr/>
        </p:nvSpPr>
        <p:spPr>
          <a:xfrm>
            <a:off x="1905000" y="3263900"/>
            <a:ext cx="551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付出与收获不是匀速的直线，而是指数曲线——大量耕耘在前，相变在后。</a:t>
            </a:r>
          </a:p>
        </p:txBody>
      </p:sp>
      <p:cxnSp>
        <p:nvCxnSpPr>
          <p:cNvPr id="10" name="line 2"/>
          <p:cNvCxnSpPr/>
          <p:nvPr/>
        </p:nvCxnSpPr>
        <p:spPr>
          <a:xfrm>
            <a:off x="812800" y="3727450"/>
            <a:ext cx="9601200" cy="12700"/>
          </a:xfrm>
          <a:prstGeom prst="line">
            <a:avLst/>
          </a:prstGeom>
          <a:noFill/>
          <a:ln w="12700">
            <a:solidFill>
              <a:srgbClr val="EFEBE4"/>
            </a:solidFill>
          </a:ln>
        </p:spPr>
      </p:cxnSp>
      <p:sp>
        <p:nvSpPr>
          <p:cNvPr id="11" name="rect 8"/>
          <p:cNvSpPr/>
          <p:nvPr/>
        </p:nvSpPr>
        <p:spPr>
          <a:xfrm>
            <a:off x="812800" y="39751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煎熬</a:t>
            </a:r>
          </a:p>
        </p:txBody>
      </p:sp>
      <p:sp>
        <p:nvSpPr>
          <p:cNvPr id="12" name="rect 9"/>
          <p:cNvSpPr/>
          <p:nvPr/>
        </p:nvSpPr>
        <p:spPr>
          <a:xfrm>
            <a:off x="1905000" y="4000500"/>
            <a:ext cx="5715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阈值何时到来无人知晓，所以才煎熬；即便突破成了美玉，也仍要继续雕琢。</a:t>
            </a:r>
          </a:p>
        </p:txBody>
      </p:sp>
      <p:cxnSp>
        <p:nvCxnSpPr>
          <p:cNvPr id="13" name="line 3"/>
          <p:cNvCxnSpPr/>
          <p:nvPr/>
        </p:nvCxnSpPr>
        <p:spPr>
          <a:xfrm>
            <a:off x="812800" y="4464050"/>
            <a:ext cx="9601200" cy="12700"/>
          </a:xfrm>
          <a:prstGeom prst="line">
            <a:avLst/>
          </a:prstGeom>
          <a:noFill/>
          <a:ln w="12700">
            <a:solidFill>
              <a:srgbClr val="EFEBE4"/>
            </a:solidFill>
          </a:ln>
        </p:spPr>
      </p:cxnSp>
      <p:sp>
        <p:nvSpPr>
          <p:cNvPr id="14" name="rect 10"/>
          <p:cNvSpPr/>
          <p:nvPr/>
        </p:nvSpPr>
        <p:spPr>
          <a:xfrm>
            <a:off x="812800" y="47117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</a:pPr>
            <a:r>
              <a:rPr lang="zh-CN" sz="1500" b="1">
                <a:solidFill>
                  <a:srgbClr val="A6392E"/>
                </a:solidFill>
                <a:latin typeface="Noto Serif SC"/>
                <a:ea typeface="serif"/>
              </a:rPr>
              <a:t>意义</a:t>
            </a:r>
          </a:p>
        </p:txBody>
      </p:sp>
      <p:sp>
        <p:nvSpPr>
          <p:cNvPr id="15" name="rect 11"/>
          <p:cNvSpPr/>
          <p:nvPr/>
        </p:nvSpPr>
        <p:spPr>
          <a:xfrm>
            <a:off x="1905000" y="4737100"/>
            <a:ext cx="6210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2000"/>
              </a:lnSpc>
            </a:pPr>
            <a:r>
              <a:rPr lang="zh-CN" sz="1300">
                <a:solidFill>
                  <a:srgbClr val="555555"/>
                </a:solidFill>
                <a:latin typeface="Noto Serif SC"/>
                <a:ea typeface="serif"/>
              </a:rPr>
              <a:t>哪怕只是一块普通的石头，每一刀打磨里的沉浸与喜悦，本身就已经是全部的意义。</a:t>
            </a:r>
          </a:p>
        </p:txBody>
      </p:sp>
      <p:pic>
        <p:nvPicPr>
          <p:cNvPr id="1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726" y="2286000"/>
            <a:ext cx="1996948" cy="3810000"/>
          </a:xfrm>
          <a:prstGeom prst="rect">
            <a:avLst/>
          </a:prstGeom>
        </p:spPr>
      </p:pic>
      <p:sp>
        <p:nvSpPr>
          <p:cNvPr id="18" name="rect 13"/>
          <p:cNvSpPr/>
          <p:nvPr/>
        </p:nvSpPr>
        <p:spPr>
          <a:xfrm>
            <a:off x="11137900" y="6540500"/>
            <a:ext cx="2413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 2"/>
          <p:cNvSpPr/>
          <p:nvPr/>
        </p:nvSpPr>
        <p:spPr>
          <a:xfrm>
            <a:off x="3022600" y="1409700"/>
            <a:ext cx="61468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zh-CN" sz="3400" b="1">
                <a:solidFill>
                  <a:srgbClr val="1F1F1F"/>
                </a:solidFill>
                <a:latin typeface="Noto Serif SC"/>
                <a:ea typeface="serif"/>
              </a:rPr>
              <a:t>山月千古依旧，人心自有迷途。</a:t>
            </a:r>
          </a:p>
        </p:txBody>
      </p:sp>
      <p:sp>
        <p:nvSpPr>
          <p:cNvPr id="4" name="rect 3"/>
          <p:cNvSpPr/>
          <p:nvPr/>
        </p:nvSpPr>
        <p:spPr>
          <a:xfrm>
            <a:off x="4318000" y="2667000"/>
            <a:ext cx="35560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lang="zh-CN" sz="1700">
                <a:solidFill>
                  <a:srgbClr val="555555"/>
                </a:solidFill>
                <a:latin typeface="Noto Serif SC"/>
                <a:ea typeface="serif"/>
              </a:rPr>
              <a:t>愿我们都能直面那个不完美的自己，</a:t>
            </a:r>
          </a:p>
        </p:txBody>
      </p:sp>
      <p:sp>
        <p:nvSpPr>
          <p:cNvPr id="5" name="rect 4"/>
          <p:cNvSpPr/>
          <p:nvPr/>
        </p:nvSpPr>
        <p:spPr>
          <a:xfrm>
            <a:off x="5181600" y="3073400"/>
            <a:ext cx="18288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lang="zh-CN" sz="1700">
                <a:solidFill>
                  <a:srgbClr val="555555"/>
                </a:solidFill>
                <a:latin typeface="Noto Serif SC"/>
                <a:ea typeface="serif"/>
              </a:rPr>
              <a:t>驯服心底的猛虎，</a:t>
            </a:r>
          </a:p>
        </p:txBody>
      </p:sp>
      <p:sp>
        <p:nvSpPr>
          <p:cNvPr id="6" name="rect 5"/>
          <p:cNvSpPr/>
          <p:nvPr/>
        </p:nvSpPr>
        <p:spPr>
          <a:xfrm>
            <a:off x="4749800" y="3479800"/>
            <a:ext cx="2692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lang="zh-CN" sz="1700">
                <a:solidFill>
                  <a:srgbClr val="555555"/>
                </a:solidFill>
                <a:latin typeface="Noto Serif SC"/>
                <a:ea typeface="serif"/>
              </a:rPr>
              <a:t>坦然地，一步一步往前走。</a:t>
            </a:r>
          </a:p>
        </p:txBody>
      </p:sp>
      <p:sp>
        <p:nvSpPr>
          <p:cNvPr id="7" name="rect 6"/>
          <p:cNvSpPr/>
          <p:nvPr/>
        </p:nvSpPr>
        <p:spPr>
          <a:xfrm>
            <a:off x="5638800" y="4290828"/>
            <a:ext cx="914400" cy="422275"/>
          </a:xfrm>
          <a:prstGeom prst="rect">
            <a:avLst/>
          </a:prstGeom>
          <a:solidFill>
            <a:srgbClr val="A639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7"/>
          <p:cNvSpPr/>
          <p:nvPr/>
        </p:nvSpPr>
        <p:spPr>
          <a:xfrm>
            <a:off x="5613400" y="4374965"/>
            <a:ext cx="9652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13000"/>
              </a:lnSpc>
            </a:pPr>
            <a:r>
              <a:rPr lang="zh-CN" sz="1700" dirty="0">
                <a:solidFill>
                  <a:srgbClr val="FFFFFF"/>
                </a:solidFill>
                <a:latin typeface="KaiTi"/>
                <a:ea typeface="KaiTi"/>
              </a:rPr>
              <a:t>谢谢大家</a:t>
            </a:r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5334000"/>
            <a:ext cx="10566400" cy="1092200"/>
          </a:xfrm>
          <a:prstGeom prst="rect">
            <a:avLst/>
          </a:prstGeom>
        </p:spPr>
      </p:pic>
      <p:sp>
        <p:nvSpPr>
          <p:cNvPr id="11" name="rect 9"/>
          <p:cNvSpPr/>
          <p:nvPr/>
        </p:nvSpPr>
        <p:spPr>
          <a:xfrm>
            <a:off x="11137900" y="6540500"/>
            <a:ext cx="2413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3000"/>
              </a:lnSpc>
            </a:pPr>
            <a:r>
              <a:rPr lang="en-US" sz="1100">
                <a:solidFill>
                  <a:srgbClr val="B8B4AC"/>
                </a:solidFill>
                <a:latin typeface="Noto Serif SC"/>
                <a:ea typeface="serif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宋体"/>
        <a:font script="Hant" typeface="新細明體"/>
        <a:font script="Hebr" typeface="Times New Roman"/>
        <a:font script="Jpan" typeface="ＭＳ Ｐゴシック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Arial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宋体"/>
        <a:font script="Hant" typeface="新細明體"/>
        <a:font script="Hebr" typeface="Arial"/>
        <a:font script="Jpan" typeface="ＭＳ Ｐ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宋体"/>
        <a:font script="Hant" typeface="新細明體"/>
        <a:font script="Hebr" typeface="Times New Roman"/>
        <a:font script="Jpan" typeface="ＭＳ Ｐゴシック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Arial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宋体"/>
        <a:font script="Hant" typeface="新細明體"/>
        <a:font script="Hebr" typeface="Arial"/>
        <a:font script="Jpan" typeface="ＭＳ Ｐ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1560</Words>
  <Application>Microsoft Office PowerPoint</Application>
  <PresentationFormat>宽屏</PresentationFormat>
  <Paragraphs>185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Noto Serif SC</vt:lpstr>
      <vt:lpstr>KaiTi</vt:lpstr>
      <vt:lpstr>Arial</vt:lpstr>
      <vt:lpstr>Georgia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Univer.ai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山月记_原PPT</dc:title>
  <dc:creator>Univer.ai</dc:creator>
  <cp:lastModifiedBy>修翊 王</cp:lastModifiedBy>
  <cp:revision>2</cp:revision>
  <dcterms:created xsi:type="dcterms:W3CDTF">2026-01-01T00:00:00Z</dcterms:created>
  <dcterms:modified xsi:type="dcterms:W3CDTF">2026-10-06T15:43:23Z</dcterms:modified>
</cp:coreProperties>
</file>